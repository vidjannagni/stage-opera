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asablanca_finance_cit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980964"/>
            <a:ext cx="12191695" cy="8819929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930">
              <a:alpha val="8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76072" y="384048"/>
            <a:ext cx="1124712" cy="11247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5" name="Picture 4" descr="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528119"/>
            <a:ext cx="960120" cy="83656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490911" y="384048"/>
            <a:ext cx="1124712" cy="11247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7" name="Picture 6" descr="logo-choubel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78260" y="466344"/>
            <a:ext cx="950013" cy="9601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58368" y="2331720"/>
            <a:ext cx="9509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F9CC28"/>
                </a:solidFill>
                <a:latin typeface="Calibri"/>
              </a:rPr>
              <a:t>S O U T E N A N C E   D E   S T A G E   O P É R A T E U R   —   P R E M I È R E   A N N É 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761488"/>
            <a:ext cx="1005840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FFFFFF"/>
                </a:solidFill>
                <a:latin typeface="Georgia"/>
              </a:rPr>
              <a:t>Concevoir un outil d'aide à la décision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FFFFFF"/>
                </a:solidFill>
                <a:latin typeface="Georgia"/>
              </a:rPr>
              <a:t>pour un cabinet de conseil immobilier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4498848"/>
            <a:ext cx="1554480" cy="45720"/>
          </a:xfrm>
          <a:prstGeom prst="rect">
            <a:avLst/>
          </a:prstGeom>
          <a:solidFill>
            <a:srgbClr val="F9C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4718304"/>
            <a:ext cx="9326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00BCAA"/>
                </a:solidFill>
                <a:latin typeface="Calibri"/>
              </a:rPr>
              <a:t>L'application « RentImmo » — de la formule financière au geste métier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5742432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HOUNKPETOHOU Marius</a:t>
            </a:r>
          </a:p>
          <a:p>
            <a:pPr algn="l">
              <a:lnSpc>
                <a:spcPct val="116000"/>
              </a:lnSpc>
              <a:spcBef>
                <a:spcPts val="300"/>
              </a:spcBef>
              <a:spcAft>
                <a:spcPts val="0"/>
              </a:spcAft>
            </a:pPr>
            <a:r>
              <a:rPr sz="1150" b="0" i="0">
                <a:solidFill>
                  <a:srgbClr val="B9C6D6"/>
                </a:solidFill>
                <a:latin typeface="Calibri"/>
              </a:rPr>
              <a:t>Choubel Consulting, Casablanca</a:t>
            </a:r>
            <a:r>
              <a:rPr sz="1150" b="0" i="0">
                <a:solidFill>
                  <a:srgbClr val="F9CC28"/>
                </a:solidFill>
                <a:latin typeface="Calibri"/>
              </a:rPr>
              <a:t>     ·     </a:t>
            </a:r>
            <a:r>
              <a:rPr sz="1150" b="0" i="0">
                <a:solidFill>
                  <a:srgbClr val="B9C6D6"/>
                </a:solidFill>
                <a:latin typeface="Calibri"/>
              </a:rPr>
              <a:t>13 juillet — 21 août 2026</a:t>
            </a:r>
            <a:r>
              <a:rPr sz="1150" b="0" i="0">
                <a:solidFill>
                  <a:srgbClr val="F9CC28"/>
                </a:solidFill>
                <a:latin typeface="Calibri"/>
              </a:rPr>
              <a:t>     ·     </a:t>
            </a:r>
            <a:r>
              <a:rPr sz="1150" b="0" i="0">
                <a:solidFill>
                  <a:srgbClr val="B9C6D6"/>
                </a:solidFill>
                <a:latin typeface="Calibri"/>
              </a:rPr>
              <a:t>Tuteur : </a:t>
            </a:r>
            <a:r>
              <a:rPr sz="1150" b="1" i="0">
                <a:solidFill>
                  <a:srgbClr val="F9CC28"/>
                </a:solidFill>
                <a:latin typeface="Calibri"/>
              </a:rPr>
              <a:t>à compléter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0C19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60704"/>
            <a:ext cx="12191695" cy="50292"/>
          </a:xfrm>
          <a:prstGeom prst="rect">
            <a:avLst/>
          </a:prstGeom>
          <a:solidFill>
            <a:srgbClr val="F9C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58368" y="274320"/>
            <a:ext cx="512064" cy="512064"/>
          </a:xfrm>
          <a:prstGeom prst="ellipse">
            <a:avLst/>
          </a:prstGeom>
          <a:noFill/>
          <a:ln w="13970">
            <a:solidFill>
              <a:srgbClr val="F9CC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9CC28"/>
                </a:solidFill>
                <a:latin typeface="Georgia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08176" y="219456"/>
            <a:ext cx="10125151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FFFFFF"/>
                </a:solidFill>
                <a:latin typeface="Georgia"/>
              </a:rPr>
              <a:t>Le cabinet et son métier</a:t>
            </a:r>
          </a:p>
          <a:p>
            <a:pPr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</a:pPr>
            <a:r>
              <a:rPr sz="1150" b="0" i="0">
                <a:solidFill>
                  <a:srgbClr val="A9B8CC"/>
                </a:solidFill>
                <a:latin typeface="Calibri"/>
              </a:rPr>
              <a:t>Choubel Consulting — conseil en investissement immobilier, Casablanca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291072"/>
            <a:ext cx="10874959" cy="10972"/>
          </a:xfrm>
          <a:prstGeom prst="rect">
            <a:avLst/>
          </a:prstGeom>
          <a:solidFill>
            <a:srgbClr val="D9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82512"/>
            <a:ext cx="1032631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6657C"/>
                </a:solidFill>
                <a:latin typeface="Calibri"/>
              </a:rPr>
              <a:t>HOUNKPETOHOU Marius  ·  Soutenance de stage opérateur  ·  Choubel Consulting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84687" y="638251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5291"/>
                </a:solidFill>
                <a:latin typeface="Calibri"/>
              </a:rPr>
              <a:t>2 / 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481328"/>
            <a:ext cx="60350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005291"/>
                </a:solidFill>
                <a:latin typeface="Calibri"/>
              </a:rPr>
              <a:t>C E   Q U E   L E   C A B I N E T   V E N D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0C1930"/>
                </a:solidFill>
                <a:latin typeface="Calibri"/>
              </a:rPr>
              <a:t>Non pas un bien, mais un </a:t>
            </a:r>
            <a:r>
              <a:rPr sz="1350" b="1" i="0">
                <a:solidFill>
                  <a:srgbClr val="0C1930"/>
                </a:solidFill>
                <a:latin typeface="Calibri"/>
              </a:rPr>
              <a:t>accompagnement</a:t>
            </a:r>
            <a:r>
              <a:rPr sz="1350" b="0" i="0">
                <a:solidFill>
                  <a:srgbClr val="0C1930"/>
                </a:solidFill>
                <a:latin typeface="Calibri"/>
              </a:rPr>
              <a:t> : transformer un besoin exprimé en une acquisition chiffrée, et conduire le dossier jusqu'à la livraison.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651760"/>
            <a:ext cx="603504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005291"/>
                </a:solidFill>
                <a:latin typeface="Calibri"/>
              </a:rPr>
              <a:t>C E   Q U ' I L   T R A I T E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1" i="0">
                <a:solidFill>
                  <a:srgbClr val="00BCAA"/>
                </a:solidFill>
                <a:latin typeface="Calibri"/>
              </a:rPr>
              <a:t>▪  </a:t>
            </a:r>
            <a:r>
              <a:rPr sz="1300" b="1" i="0">
                <a:solidFill>
                  <a:srgbClr val="0C1930"/>
                </a:solidFill>
                <a:latin typeface="Calibri"/>
              </a:rPr>
              <a:t>4 familles de biens </a:t>
            </a:r>
            <a:r>
              <a:rPr sz="1300" b="0" i="0">
                <a:solidFill>
                  <a:srgbClr val="0C1930"/>
                </a:solidFill>
                <a:latin typeface="Calibri"/>
              </a:rPr>
              <a:t>— terrains, villas, appartements, immeubles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1" i="0">
                <a:solidFill>
                  <a:srgbClr val="00BCAA"/>
                </a:solidFill>
                <a:latin typeface="Calibri"/>
              </a:rPr>
              <a:t>▪  </a:t>
            </a:r>
            <a:r>
              <a:rPr sz="1300" b="1" i="0">
                <a:solidFill>
                  <a:srgbClr val="0C1930"/>
                </a:solidFill>
                <a:latin typeface="Calibri"/>
              </a:rPr>
              <a:t>5 niveaux de standing </a:t>
            </a:r>
            <a:r>
              <a:rPr sz="1300" b="0" i="0">
                <a:solidFill>
                  <a:srgbClr val="0C1930"/>
                </a:solidFill>
                <a:latin typeface="Calibri"/>
              </a:rPr>
              <a:t>— de l'économique au luxe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1" i="0">
                <a:solidFill>
                  <a:srgbClr val="00BCAA"/>
                </a:solidFill>
                <a:latin typeface="Calibri"/>
              </a:rPr>
              <a:t>▪  </a:t>
            </a:r>
            <a:r>
              <a:rPr sz="1300" b="1" i="0">
                <a:solidFill>
                  <a:srgbClr val="0C1930"/>
                </a:solidFill>
                <a:latin typeface="Calibri"/>
              </a:rPr>
              <a:t>3 états </a:t>
            </a:r>
            <a:r>
              <a:rPr sz="1300" b="0" i="0">
                <a:solidFill>
                  <a:srgbClr val="0C1930"/>
                </a:solidFill>
                <a:latin typeface="Calibri"/>
              </a:rPr>
              <a:t>— neuf, ancien, ou vendu sur plan (VEFA)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4361688"/>
            <a:ext cx="60350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005291"/>
                </a:solidFill>
                <a:latin typeface="Calibri"/>
              </a:rPr>
              <a:t>S E S   C L I E N T S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0C1930"/>
                </a:solidFill>
                <a:latin typeface="Calibri"/>
              </a:rPr>
              <a:t>Investisseurs particuliers, résidents et non-résidents : la </a:t>
            </a:r>
            <a:r>
              <a:rPr sz="1350" b="1" i="0">
                <a:solidFill>
                  <a:srgbClr val="0C1930"/>
                </a:solidFill>
                <a:latin typeface="Calibri"/>
              </a:rPr>
              <a:t>nationalité</a:t>
            </a:r>
            <a:r>
              <a:rPr sz="1350" b="0" i="0">
                <a:solidFill>
                  <a:srgbClr val="0C1930"/>
                </a:solidFill>
                <a:latin typeface="Calibri"/>
              </a:rPr>
              <a:t> et la </a:t>
            </a:r>
            <a:r>
              <a:rPr sz="1350" b="1" i="0">
                <a:solidFill>
                  <a:srgbClr val="0C1930"/>
                </a:solidFill>
                <a:latin typeface="Calibri"/>
              </a:rPr>
              <a:t>situation professionnelle</a:t>
            </a:r>
            <a:r>
              <a:rPr sz="1350" b="0" i="0">
                <a:solidFill>
                  <a:srgbClr val="0C1930"/>
                </a:solidFill>
                <a:latin typeface="Calibri"/>
              </a:rPr>
              <a:t> conditionnent l'accès au crédit local. Ce sont donc des données de premier entretien, pas des mentions administratives.</a:t>
            </a:r>
          </a:p>
          <a:p>
            <a:pPr algn="l">
              <a:lnSpc>
                <a:spcPct val="116000"/>
              </a:lnSpc>
              <a:spcBef>
                <a:spcPts val="600"/>
              </a:spcBef>
              <a:spcAft>
                <a:spcPts val="0"/>
              </a:spcAft>
            </a:pPr>
            <a:r>
              <a:rPr sz="1000" b="1" i="0">
                <a:solidFill>
                  <a:srgbClr val="B00020"/>
                </a:solidFill>
                <a:latin typeface="Calibri"/>
              </a:rPr>
              <a:t>[à compléter : création, effectif, forme juridique du cabinet]</a:t>
            </a:r>
          </a:p>
        </p:txBody>
      </p:sp>
      <p:pic>
        <p:nvPicPr>
          <p:cNvPr id="12" name="Picture 11" descr="casablanca_maarif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3607" y="1481328"/>
            <a:ext cx="4145279" cy="2331720"/>
          </a:xfrm>
          <a:prstGeom prst="rect">
            <a:avLst/>
          </a:prstGeom>
          <a:ln w="9525">
            <a:solidFill>
              <a:srgbClr val="D9E0EA"/>
            </a:solidFill>
          </a:ln>
        </p:spPr>
      </p:pic>
      <p:sp>
        <p:nvSpPr>
          <p:cNvPr id="13" name="TextBox 12"/>
          <p:cNvSpPr txBox="1"/>
          <p:nvPr/>
        </p:nvSpPr>
        <p:spPr>
          <a:xfrm>
            <a:off x="7059168" y="3913632"/>
            <a:ext cx="447415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6657C"/>
                </a:solidFill>
                <a:latin typeface="Calibri"/>
              </a:rPr>
              <a:t>Le quartier Maârif, à Casablanca — l'une des zones de recherche des dossiers traités.</a:t>
            </a:r>
          </a:p>
          <a:p>
            <a:pPr algn="l">
              <a:lnSpc>
                <a:spcPct val="116000"/>
              </a:lnSpc>
              <a:spcBef>
                <a:spcPts val="300"/>
              </a:spcBef>
              <a:spcAft>
                <a:spcPts val="0"/>
              </a:spcAft>
            </a:pPr>
            <a:r>
              <a:rPr sz="900" b="0" i="1">
                <a:solidFill>
                  <a:srgbClr val="56657C"/>
                </a:solidFill>
                <a:latin typeface="Calibri"/>
              </a:rPr>
              <a:t>Photo karel291, Wikimedia Commons, CC BY 3.0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059168" y="4882896"/>
            <a:ext cx="4474159" cy="868680"/>
          </a:xfrm>
          <a:prstGeom prst="rect">
            <a:avLst/>
          </a:prstGeom>
          <a:solidFill>
            <a:srgbClr val="F2F5F9"/>
          </a:solidFill>
          <a:ln w="9525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59168" y="4882896"/>
            <a:ext cx="50292" cy="868680"/>
          </a:xfrm>
          <a:prstGeom prst="rect">
            <a:avLst/>
          </a:prstGeom>
          <a:solidFill>
            <a:srgbClr val="00BC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33488" y="5065776"/>
            <a:ext cx="397123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1">
                <a:solidFill>
                  <a:srgbClr val="0C1930"/>
                </a:solidFill>
                <a:latin typeface="Calibri"/>
              </a:rPr>
              <a:t>Cette amplitude n'est pas un argument commercial : c'est une contrainte de conception.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0C19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60704"/>
            <a:ext cx="12191695" cy="50292"/>
          </a:xfrm>
          <a:prstGeom prst="rect">
            <a:avLst/>
          </a:prstGeom>
          <a:solidFill>
            <a:srgbClr val="F9C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58368" y="274320"/>
            <a:ext cx="512064" cy="512064"/>
          </a:xfrm>
          <a:prstGeom prst="ellipse">
            <a:avLst/>
          </a:prstGeom>
          <a:noFill/>
          <a:ln w="13970">
            <a:solidFill>
              <a:srgbClr val="F9CC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9CC28"/>
                </a:solidFill>
                <a:latin typeface="Georgia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08176" y="219456"/>
            <a:ext cx="10125151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FFFFFF"/>
                </a:solidFill>
                <a:latin typeface="Georgia"/>
              </a:rPr>
              <a:t>Le fonctionnement observé</a:t>
            </a:r>
          </a:p>
          <a:p>
            <a:pPr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</a:pPr>
            <a:r>
              <a:rPr sz="1150" b="0" i="0">
                <a:solidFill>
                  <a:srgbClr val="A9B8CC"/>
                </a:solidFill>
                <a:latin typeface="Calibri"/>
              </a:rPr>
              <a:t>Un processus stable en six étapes — mais écrit nulle part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291072"/>
            <a:ext cx="10874959" cy="10972"/>
          </a:xfrm>
          <a:prstGeom prst="rect">
            <a:avLst/>
          </a:prstGeom>
          <a:solidFill>
            <a:srgbClr val="D9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82512"/>
            <a:ext cx="1032631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6657C"/>
                </a:solidFill>
                <a:latin typeface="Calibri"/>
              </a:rPr>
              <a:t>HOUNKPETOHOU Marius  ·  Soutenance de stage opérateur  ·  Choubel Consulting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84687" y="638251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5291"/>
                </a:solidFill>
                <a:latin typeface="Calibri"/>
              </a:rPr>
              <a:t>3 / 16</a:t>
            </a:r>
          </a:p>
        </p:txBody>
      </p:sp>
      <p:sp>
        <p:nvSpPr>
          <p:cNvPr id="9" name="Pentagon 8"/>
          <p:cNvSpPr/>
          <p:nvPr/>
        </p:nvSpPr>
        <p:spPr>
          <a:xfrm>
            <a:off x="658368" y="1481328"/>
            <a:ext cx="1736293" cy="749808"/>
          </a:xfrm>
          <a:prstGeom prst="homePlate">
            <a:avLst/>
          </a:prstGeom>
          <a:solidFill>
            <a:srgbClr val="F2F5F9"/>
          </a:solidFill>
          <a:ln w="9525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28016" rIns="4572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0BCAA"/>
                </a:solidFill>
                <a:latin typeface="Calibri"/>
              </a:rPr>
              <a:t>1</a:t>
            </a:r>
          </a:p>
          <a:p>
            <a:pPr algn="ctr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</a:pPr>
            <a:r>
              <a:rPr sz="1000" b="0" i="0">
                <a:solidFill>
                  <a:srgbClr val="0C1930"/>
                </a:solidFill>
                <a:latin typeface="Calibri"/>
              </a:rPr>
              <a:t>Recueil
du besoin</a:t>
            </a:r>
          </a:p>
        </p:txBody>
      </p:sp>
      <p:sp>
        <p:nvSpPr>
          <p:cNvPr id="10" name="Chevron 9"/>
          <p:cNvSpPr/>
          <p:nvPr/>
        </p:nvSpPr>
        <p:spPr>
          <a:xfrm>
            <a:off x="2486101" y="1481328"/>
            <a:ext cx="1736293" cy="749808"/>
          </a:xfrm>
          <a:prstGeom prst="chevron">
            <a:avLst/>
          </a:prstGeom>
          <a:solidFill>
            <a:srgbClr val="F2F5F9"/>
          </a:solidFill>
          <a:ln w="9525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28016" rIns="4572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0BCAA"/>
                </a:solidFill>
                <a:latin typeface="Calibri"/>
              </a:rPr>
              <a:t>2</a:t>
            </a:r>
          </a:p>
          <a:p>
            <a:pPr algn="ctr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</a:pPr>
            <a:r>
              <a:rPr sz="1000" b="0" i="0">
                <a:solidFill>
                  <a:srgbClr val="0C1930"/>
                </a:solidFill>
                <a:latin typeface="Calibri"/>
              </a:rPr>
              <a:t>Recherche</a:t>
            </a:r>
          </a:p>
        </p:txBody>
      </p:sp>
      <p:sp>
        <p:nvSpPr>
          <p:cNvPr id="11" name="Chevron 10"/>
          <p:cNvSpPr/>
          <p:nvPr/>
        </p:nvSpPr>
        <p:spPr>
          <a:xfrm>
            <a:off x="4313834" y="1481328"/>
            <a:ext cx="1736293" cy="749808"/>
          </a:xfrm>
          <a:prstGeom prst="chevron">
            <a:avLst/>
          </a:prstGeom>
          <a:solidFill>
            <a:srgbClr val="F2F5F9"/>
          </a:solidFill>
          <a:ln w="9525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28016" rIns="4572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0BCAA"/>
                </a:solidFill>
                <a:latin typeface="Calibri"/>
              </a:rPr>
              <a:t>3</a:t>
            </a:r>
          </a:p>
          <a:p>
            <a:pPr algn="ctr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</a:pPr>
            <a:r>
              <a:rPr sz="1000" b="0" i="0">
                <a:solidFill>
                  <a:srgbClr val="0C1930"/>
                </a:solidFill>
                <a:latin typeface="Calibri"/>
              </a:rPr>
              <a:t>Présentation
et visites</a:t>
            </a:r>
          </a:p>
        </p:txBody>
      </p:sp>
      <p:sp>
        <p:nvSpPr>
          <p:cNvPr id="12" name="Chevron 11"/>
          <p:cNvSpPr/>
          <p:nvPr/>
        </p:nvSpPr>
        <p:spPr>
          <a:xfrm>
            <a:off x="6141567" y="1481328"/>
            <a:ext cx="1736293" cy="749808"/>
          </a:xfrm>
          <a:prstGeom prst="chevron">
            <a:avLst/>
          </a:prstGeom>
          <a:solidFill>
            <a:srgbClr val="F2F5F9"/>
          </a:solidFill>
          <a:ln w="9525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28016" rIns="4572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0BCAA"/>
                </a:solidFill>
                <a:latin typeface="Calibri"/>
              </a:rPr>
              <a:t>4</a:t>
            </a:r>
          </a:p>
          <a:p>
            <a:pPr algn="ctr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</a:pPr>
            <a:r>
              <a:rPr sz="1000" b="0" i="0">
                <a:solidFill>
                  <a:srgbClr val="0C1930"/>
                </a:solidFill>
                <a:latin typeface="Calibri"/>
              </a:rPr>
              <a:t>Compromis</a:t>
            </a:r>
          </a:p>
        </p:txBody>
      </p:sp>
      <p:sp>
        <p:nvSpPr>
          <p:cNvPr id="13" name="Chevron 12"/>
          <p:cNvSpPr/>
          <p:nvPr/>
        </p:nvSpPr>
        <p:spPr>
          <a:xfrm>
            <a:off x="7969300" y="1481328"/>
            <a:ext cx="1736293" cy="749808"/>
          </a:xfrm>
          <a:prstGeom prst="chevron">
            <a:avLst/>
          </a:prstGeom>
          <a:solidFill>
            <a:srgbClr val="F2F5F9"/>
          </a:solidFill>
          <a:ln w="9525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28016" rIns="4572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0BCAA"/>
                </a:solidFill>
                <a:latin typeface="Calibri"/>
              </a:rPr>
              <a:t>5</a:t>
            </a:r>
          </a:p>
          <a:p>
            <a:pPr algn="ctr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</a:pPr>
            <a:r>
              <a:rPr sz="1000" b="0" i="0">
                <a:solidFill>
                  <a:srgbClr val="0C1930"/>
                </a:solidFill>
                <a:latin typeface="Calibri"/>
              </a:rPr>
              <a:t>Acte
notarié</a:t>
            </a:r>
          </a:p>
        </p:txBody>
      </p:sp>
      <p:sp>
        <p:nvSpPr>
          <p:cNvPr id="14" name="Chevron 13"/>
          <p:cNvSpPr/>
          <p:nvPr/>
        </p:nvSpPr>
        <p:spPr>
          <a:xfrm>
            <a:off x="9797034" y="1481328"/>
            <a:ext cx="1736293" cy="749808"/>
          </a:xfrm>
          <a:prstGeom prst="chevron">
            <a:avLst/>
          </a:prstGeom>
          <a:solidFill>
            <a:srgbClr val="F2F5F9"/>
          </a:solidFill>
          <a:ln w="9525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28016" rIns="4572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0BCAA"/>
                </a:solidFill>
                <a:latin typeface="Calibri"/>
              </a:rPr>
              <a:t>6</a:t>
            </a:r>
          </a:p>
          <a:p>
            <a:pPr algn="ctr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</a:pPr>
            <a:r>
              <a:rPr sz="1000" b="0" i="0">
                <a:solidFill>
                  <a:srgbClr val="0C1930"/>
                </a:solidFill>
                <a:latin typeface="Calibri"/>
              </a:rPr>
              <a:t>Livraison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2505456"/>
            <a:ext cx="3454298" cy="1874519"/>
          </a:xfrm>
          <a:prstGeom prst="rect">
            <a:avLst/>
          </a:prstGeom>
          <a:solidFill>
            <a:srgbClr val="F2F5F9"/>
          </a:solidFill>
          <a:ln w="9525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8368" y="2505456"/>
            <a:ext cx="50292" cy="1874519"/>
          </a:xfrm>
          <a:prstGeom prst="rect">
            <a:avLst/>
          </a:prstGeom>
          <a:solidFill>
            <a:srgbClr val="0052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2688" y="2724912"/>
            <a:ext cx="2951378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005291"/>
                </a:solidFill>
                <a:latin typeface="Calibri"/>
              </a:rPr>
              <a:t>O U T I L S   S U P P O R T 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1" i="0">
                <a:solidFill>
                  <a:srgbClr val="00BCAA"/>
                </a:solidFill>
                <a:latin typeface="Calibri"/>
              </a:rPr>
              <a:t>▪  </a:t>
            </a:r>
            <a:r>
              <a:rPr sz="1150" b="0" i="0">
                <a:solidFill>
                  <a:srgbClr val="0C1930"/>
                </a:solidFill>
                <a:latin typeface="Calibri"/>
              </a:rPr>
              <a:t>Tableurs construits au cas par cas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1" i="0">
                <a:solidFill>
                  <a:srgbClr val="00BCAA"/>
                </a:solidFill>
                <a:latin typeface="Calibri"/>
              </a:rPr>
              <a:t>▪  </a:t>
            </a:r>
            <a:r>
              <a:rPr sz="1150" b="0" i="0">
                <a:solidFill>
                  <a:srgbClr val="0C1930"/>
                </a:solidFill>
                <a:latin typeface="Calibri"/>
              </a:rPr>
              <a:t>Notes et échanges informels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1" i="0">
                <a:solidFill>
                  <a:srgbClr val="00BCAA"/>
                </a:solidFill>
                <a:latin typeface="Calibri"/>
              </a:rPr>
              <a:t>▪  </a:t>
            </a:r>
            <a:r>
              <a:rPr sz="1150" b="0" i="0">
                <a:solidFill>
                  <a:srgbClr val="0C1930"/>
                </a:solidFill>
                <a:latin typeface="Calibri"/>
              </a:rPr>
              <a:t>Aucun format de restitution commun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68698" y="2505456"/>
            <a:ext cx="3454298" cy="1874519"/>
          </a:xfrm>
          <a:prstGeom prst="rect">
            <a:avLst/>
          </a:prstGeom>
          <a:solidFill>
            <a:srgbClr val="F2F5F9"/>
          </a:solidFill>
          <a:ln w="9525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68698" y="2505456"/>
            <a:ext cx="50292" cy="1874519"/>
          </a:xfrm>
          <a:prstGeom prst="rect">
            <a:avLst/>
          </a:prstGeom>
          <a:solidFill>
            <a:srgbClr val="0052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43018" y="2724912"/>
            <a:ext cx="2951378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005291"/>
                </a:solidFill>
                <a:latin typeface="Calibri"/>
              </a:rPr>
              <a:t>L I V R A B L E S   A U   C L I E N T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1" i="0">
                <a:solidFill>
                  <a:srgbClr val="00BCAA"/>
                </a:solidFill>
                <a:latin typeface="Calibri"/>
              </a:rPr>
              <a:t>▪  </a:t>
            </a:r>
            <a:r>
              <a:rPr sz="1150" b="0" i="0">
                <a:solidFill>
                  <a:srgbClr val="0C1930"/>
                </a:solidFill>
                <a:latin typeface="Calibri"/>
              </a:rPr>
              <a:t>Une sélection de biens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1" i="0">
                <a:solidFill>
                  <a:srgbClr val="00BCAA"/>
                </a:solidFill>
                <a:latin typeface="Calibri"/>
              </a:rPr>
              <a:t>▪  </a:t>
            </a:r>
            <a:r>
              <a:rPr sz="1150" b="0" i="0">
                <a:solidFill>
                  <a:srgbClr val="0C1930"/>
                </a:solidFill>
                <a:latin typeface="Calibri"/>
              </a:rPr>
              <a:t>Un argumentaire chiffré, oral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1" i="0">
                <a:solidFill>
                  <a:srgbClr val="00BCAA"/>
                </a:solidFill>
                <a:latin typeface="Calibri"/>
              </a:rPr>
              <a:t>▪  </a:t>
            </a:r>
            <a:r>
              <a:rPr sz="1150" b="0" i="0">
                <a:solidFill>
                  <a:srgbClr val="0C1930"/>
                </a:solidFill>
                <a:latin typeface="Calibri"/>
              </a:rPr>
              <a:t>Rien de systématiquement remis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79028" y="2505456"/>
            <a:ext cx="3454298" cy="1874519"/>
          </a:xfrm>
          <a:prstGeom prst="rect">
            <a:avLst/>
          </a:prstGeom>
          <a:solidFill>
            <a:srgbClr val="F2F5F9"/>
          </a:solidFill>
          <a:ln w="9525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79028" y="2505456"/>
            <a:ext cx="50292" cy="1874519"/>
          </a:xfrm>
          <a:prstGeom prst="rect">
            <a:avLst/>
          </a:prstGeom>
          <a:solidFill>
            <a:srgbClr val="0052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53348" y="2724912"/>
            <a:ext cx="2951378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005291"/>
                </a:solidFill>
                <a:latin typeface="Calibri"/>
              </a:rPr>
              <a:t>A C T E U R S   D U   D O S S I E R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1" i="0">
                <a:solidFill>
                  <a:srgbClr val="00BCAA"/>
                </a:solidFill>
                <a:latin typeface="Calibri"/>
              </a:rPr>
              <a:t>▪  </a:t>
            </a:r>
            <a:r>
              <a:rPr sz="1150" b="0" i="0">
                <a:solidFill>
                  <a:srgbClr val="0C1930"/>
                </a:solidFill>
                <a:latin typeface="Calibri"/>
              </a:rPr>
              <a:t>Le conseiller, du début à la fin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1" i="0">
                <a:solidFill>
                  <a:srgbClr val="00BCAA"/>
                </a:solidFill>
                <a:latin typeface="Calibri"/>
              </a:rPr>
              <a:t>▪  </a:t>
            </a:r>
            <a:r>
              <a:rPr sz="1150" b="0" i="0">
                <a:solidFill>
                  <a:srgbClr val="0C1930"/>
                </a:solidFill>
                <a:latin typeface="Calibri"/>
              </a:rPr>
              <a:t>Agences, promoteurs, notaire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1" i="0">
                <a:solidFill>
                  <a:srgbClr val="00BCAA"/>
                </a:solidFill>
                <a:latin typeface="Calibri"/>
              </a:rPr>
              <a:t>▪  </a:t>
            </a:r>
            <a:r>
              <a:rPr sz="1150" b="0" i="0">
                <a:solidFill>
                  <a:srgbClr val="0C1930"/>
                </a:solidFill>
                <a:latin typeface="Calibri"/>
              </a:rPr>
              <a:t>Banque pour le financement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8368" y="4608576"/>
            <a:ext cx="10874959" cy="841248"/>
          </a:xfrm>
          <a:prstGeom prst="rect">
            <a:avLst/>
          </a:prstGeom>
          <a:solidFill>
            <a:srgbClr val="0C19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9264" y="4773168"/>
            <a:ext cx="1023487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9CC28"/>
                </a:solidFill>
                <a:latin typeface="Calibri"/>
              </a:rPr>
              <a:t>Observation.  </a:t>
            </a:r>
            <a:r>
              <a:rPr sz="1250" b="0" i="0">
                <a:solidFill>
                  <a:srgbClr val="FFFFFF"/>
                </a:solidFill>
                <a:latin typeface="Calibri"/>
              </a:rPr>
              <a:t>Le savoir-faire est </a:t>
            </a:r>
            <a:r>
              <a:rPr sz="1250" b="1" i="0">
                <a:solidFill>
                  <a:srgbClr val="FFFFFF"/>
                </a:solidFill>
                <a:latin typeface="Calibri"/>
              </a:rPr>
              <a:t>dans les têtes, pas dans les procédures</a:t>
            </a:r>
            <a:r>
              <a:rPr sz="1250" b="0" i="0">
                <a:solidFill>
                  <a:srgbClr val="FFFFFF"/>
                </a:solidFill>
                <a:latin typeface="Calibri"/>
              </a:rPr>
              <a:t>. Cela fonctionne tant que les effectifs sont stables — et rend coûteuse toute reprise de dossier.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0C19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60704"/>
            <a:ext cx="12191695" cy="50292"/>
          </a:xfrm>
          <a:prstGeom prst="rect">
            <a:avLst/>
          </a:prstGeom>
          <a:solidFill>
            <a:srgbClr val="F9C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58368" y="274320"/>
            <a:ext cx="512064" cy="512064"/>
          </a:xfrm>
          <a:prstGeom prst="ellipse">
            <a:avLst/>
          </a:prstGeom>
          <a:noFill/>
          <a:ln w="13970">
            <a:solidFill>
              <a:srgbClr val="F9CC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9CC28"/>
                </a:solidFill>
                <a:latin typeface="Georgia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08176" y="219456"/>
            <a:ext cx="10125151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FFFFFF"/>
                </a:solidFill>
                <a:latin typeface="Georgia"/>
              </a:rPr>
              <a:t>Diagnostic</a:t>
            </a:r>
          </a:p>
          <a:p>
            <a:pPr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</a:pPr>
            <a:r>
              <a:rPr sz="1150" b="0" i="0">
                <a:solidFill>
                  <a:srgbClr val="A9B8CC"/>
                </a:solidFill>
                <a:latin typeface="Calibri"/>
              </a:rPr>
              <a:t>Trois constats, une problématique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291072"/>
            <a:ext cx="10874959" cy="10972"/>
          </a:xfrm>
          <a:prstGeom prst="rect">
            <a:avLst/>
          </a:prstGeom>
          <a:solidFill>
            <a:srgbClr val="D9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82512"/>
            <a:ext cx="1032631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6657C"/>
                </a:solidFill>
                <a:latin typeface="Calibri"/>
              </a:rPr>
              <a:t>HOUNKPETOHOU Marius  ·  Soutenance de stage opérateur  ·  Choubel Consulting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84687" y="638251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5291"/>
                </a:solidFill>
                <a:latin typeface="Calibri"/>
              </a:rPr>
              <a:t>4 / 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481328"/>
            <a:ext cx="6492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005291"/>
                </a:solidFill>
                <a:latin typeface="Calibri"/>
              </a:rPr>
              <a:t>C E   Q U I   C O I N C 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883664"/>
            <a:ext cx="6492240" cy="1042415"/>
          </a:xfrm>
          <a:prstGeom prst="rect">
            <a:avLst/>
          </a:prstGeom>
          <a:solidFill>
            <a:srgbClr val="F2F5F9"/>
          </a:solidFill>
          <a:ln w="9525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883664"/>
            <a:ext cx="50292" cy="1042415"/>
          </a:xfrm>
          <a:prstGeom prst="rect">
            <a:avLst/>
          </a:prstGeom>
          <a:solidFill>
            <a:srgbClr val="00BC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0976" y="2066544"/>
            <a:ext cx="59436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05291"/>
                </a:solidFill>
                <a:latin typeface="Calibri"/>
              </a:rPr>
              <a:t>Traçabilité  </a:t>
            </a:r>
            <a:r>
              <a:rPr sz="1250" b="0" i="0">
                <a:solidFill>
                  <a:srgbClr val="0C1930"/>
                </a:solidFill>
                <a:latin typeface="Calibri"/>
              </a:rPr>
              <a:t>un chiffre calculé au cas par cas ne se retrouve pas six mois plus tard, ni par un autre conseiller.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3054096"/>
            <a:ext cx="6492240" cy="1042415"/>
          </a:xfrm>
          <a:prstGeom prst="rect">
            <a:avLst/>
          </a:prstGeom>
          <a:solidFill>
            <a:srgbClr val="F2F5F9"/>
          </a:solidFill>
          <a:ln w="9525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8368" y="3054096"/>
            <a:ext cx="50292" cy="1042415"/>
          </a:xfrm>
          <a:prstGeom prst="rect">
            <a:avLst/>
          </a:prstGeom>
          <a:solidFill>
            <a:srgbClr val="00BC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50976" y="3236976"/>
            <a:ext cx="59436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05291"/>
                </a:solidFill>
                <a:latin typeface="Calibri"/>
              </a:rPr>
              <a:t>Crédibilité en rendez-vous  </a:t>
            </a:r>
            <a:r>
              <a:rPr sz="1250" b="0" i="0">
                <a:solidFill>
                  <a:srgbClr val="0C1930"/>
                </a:solidFill>
                <a:latin typeface="Calibri"/>
              </a:rPr>
              <a:t>un tableur montré à l'écran ne vaut pas un document remis, chiffré et daté.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4224528"/>
            <a:ext cx="6492240" cy="1042415"/>
          </a:xfrm>
          <a:prstGeom prst="rect">
            <a:avLst/>
          </a:prstGeom>
          <a:solidFill>
            <a:srgbClr val="F2F5F9"/>
          </a:solidFill>
          <a:ln w="9525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8368" y="4224528"/>
            <a:ext cx="50292" cy="1042415"/>
          </a:xfrm>
          <a:prstGeom prst="rect">
            <a:avLst/>
          </a:prstGeom>
          <a:solidFill>
            <a:srgbClr val="00BC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50976" y="4407408"/>
            <a:ext cx="59436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05291"/>
                </a:solidFill>
                <a:latin typeface="Calibri"/>
              </a:rPr>
              <a:t>Diversité des opérations  </a:t>
            </a:r>
            <a:r>
              <a:rPr sz="1250" b="0" i="0">
                <a:solidFill>
                  <a:srgbClr val="0C1930"/>
                </a:solidFill>
                <a:latin typeface="Calibri"/>
              </a:rPr>
              <a:t>appartement loué, terrain porté dix ans, immeuble construit puis revendu : trois logiques économiques, un seul outil.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5449824"/>
            <a:ext cx="6492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005291"/>
                </a:solidFill>
                <a:latin typeface="Calibri"/>
              </a:rPr>
              <a:t>G I S E M E N T S   D ' A M É L I O R A T I O N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6657C"/>
                </a:solidFill>
                <a:latin typeface="Calibri"/>
              </a:rPr>
              <a:t>Homogénéiser le calcul  ·  écrire les conventions  ·  produire un document client  ·  suivre l'avancement des dossiers.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562088" y="1481328"/>
            <a:ext cx="3971239" cy="2286000"/>
          </a:xfrm>
          <a:prstGeom prst="rect">
            <a:avLst/>
          </a:prstGeom>
          <a:solidFill>
            <a:srgbClr val="0C19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72983" y="1755648"/>
            <a:ext cx="3349447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F9CC28"/>
                </a:solidFill>
                <a:latin typeface="Calibri"/>
              </a:rPr>
              <a:t>P R O B L É M A T I Q U E</a:t>
            </a:r>
          </a:p>
          <a:p>
            <a:pPr algn="l">
              <a:lnSpc>
                <a:spcPct val="128000"/>
              </a:lnSpc>
              <a:spcBef>
                <a:spcPts val="60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Georgia"/>
              </a:rPr>
              <a:t>Comment outiller un conseil qui repose sur le </a:t>
            </a:r>
            <a:r>
              <a:rPr sz="1600" b="1" i="0">
                <a:solidFill>
                  <a:srgbClr val="F9CC28"/>
                </a:solidFill>
                <a:latin typeface="Georgia"/>
              </a:rPr>
              <a:t>jugement du client</a:t>
            </a:r>
            <a:r>
              <a:rPr sz="1600" b="0" i="0">
                <a:solidFill>
                  <a:srgbClr val="FFFFFF"/>
                </a:solidFill>
                <a:latin typeface="Georgia"/>
              </a:rPr>
              <a:t>, sans le remplacer par un verdict automatique 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62088" y="4087368"/>
            <a:ext cx="1232306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05291"/>
                </a:solidFill>
                <a:latin typeface="Georgia"/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62088" y="4544568"/>
            <a:ext cx="123230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6657C"/>
                </a:solidFill>
                <a:latin typeface="Calibri"/>
              </a:rPr>
              <a:t>semaines de mission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85834" y="4087368"/>
            <a:ext cx="1232306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05291"/>
                </a:solidFill>
                <a:latin typeface="Georgia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85834" y="4544568"/>
            <a:ext cx="123230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6657C"/>
                </a:solidFill>
                <a:latin typeface="Calibri"/>
              </a:rPr>
              <a:t>développeurs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09580" y="4087368"/>
            <a:ext cx="1232306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05291"/>
                </a:solidFill>
                <a:latin typeface="Georgia"/>
              </a:rPr>
              <a:t>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09580" y="4544568"/>
            <a:ext cx="123230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6657C"/>
                </a:solidFill>
                <a:latin typeface="Calibri"/>
              </a:rPr>
              <a:t>questions au tuteur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0C19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60704"/>
            <a:ext cx="12191695" cy="50292"/>
          </a:xfrm>
          <a:prstGeom prst="rect">
            <a:avLst/>
          </a:prstGeom>
          <a:solidFill>
            <a:srgbClr val="F9C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58368" y="274320"/>
            <a:ext cx="512064" cy="512064"/>
          </a:xfrm>
          <a:prstGeom prst="ellipse">
            <a:avLst/>
          </a:prstGeom>
          <a:noFill/>
          <a:ln w="13970">
            <a:solidFill>
              <a:srgbClr val="F9CC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9CC28"/>
                </a:solidFill>
                <a:latin typeface="Georgia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08176" y="219456"/>
            <a:ext cx="10125151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FFFFFF"/>
                </a:solidFill>
                <a:latin typeface="Georgia"/>
              </a:rPr>
              <a:t>Mon périmètre d'intervention</a:t>
            </a:r>
          </a:p>
          <a:p>
            <a:pPr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</a:pPr>
            <a:r>
              <a:rPr sz="1150" b="0" i="0">
                <a:solidFill>
                  <a:srgbClr val="A9B8CC"/>
                </a:solidFill>
                <a:latin typeface="Calibri"/>
              </a:rPr>
              <a:t>Ce que j'ai proposé, et comment le travail a été organisé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291072"/>
            <a:ext cx="10874959" cy="10972"/>
          </a:xfrm>
          <a:prstGeom prst="rect">
            <a:avLst/>
          </a:prstGeom>
          <a:solidFill>
            <a:srgbClr val="D9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82512"/>
            <a:ext cx="1032631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6657C"/>
                </a:solidFill>
                <a:latin typeface="Calibri"/>
              </a:rPr>
              <a:t>HOUNKPETOHOU Marius  ·  Soutenance de stage opérateur  ·  Choubel Consulting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84687" y="638251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5291"/>
                </a:solidFill>
                <a:latin typeface="Calibri"/>
              </a:rPr>
              <a:t>5 / 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481328"/>
            <a:ext cx="5440679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005291"/>
                </a:solidFill>
                <a:latin typeface="Calibri"/>
              </a:rPr>
              <a:t>L A   P R O P O S I T I O N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C1930"/>
                </a:solidFill>
                <a:latin typeface="Calibri"/>
              </a:rPr>
              <a:t>RentImmo</a:t>
            </a:r>
            <a:r>
              <a:rPr sz="1350" b="0" i="0">
                <a:solidFill>
                  <a:srgbClr val="0C1930"/>
                </a:solidFill>
                <a:latin typeface="Calibri"/>
              </a:rPr>
              <a:t> : une application web interne au cabinet, du recueil du besoin au document remis au client, en moins de </a:t>
            </a:r>
            <a:r>
              <a:rPr sz="1350" b="1" i="0">
                <a:solidFill>
                  <a:srgbClr val="0C1930"/>
                </a:solidFill>
                <a:latin typeface="Calibri"/>
              </a:rPr>
              <a:t>dix minutes</a:t>
            </a:r>
            <a:r>
              <a:rPr sz="1350" b="0" i="0">
                <a:solidFill>
                  <a:srgbClr val="0C1930"/>
                </a:solidFill>
                <a:latin typeface="Calibri"/>
              </a:rPr>
              <a:t> — la durée d'une séquence de rendez-vous.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2898648"/>
            <a:ext cx="5440679" cy="1234440"/>
          </a:xfrm>
          <a:prstGeom prst="rect">
            <a:avLst/>
          </a:prstGeom>
          <a:solidFill>
            <a:srgbClr val="0C19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50976" y="3099816"/>
            <a:ext cx="4892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F9CC28"/>
                </a:solidFill>
                <a:latin typeface="Calibri"/>
              </a:rPr>
              <a:t>L A   R È G L E   P O S É E   E N   S E M A I N E   1</a:t>
            </a:r>
          </a:p>
          <a:p>
            <a:pPr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</a:pPr>
            <a:r>
              <a:rPr sz="1300" b="0" i="1">
                <a:solidFill>
                  <a:srgbClr val="FFFFFF"/>
                </a:solidFill>
                <a:latin typeface="Calibri"/>
              </a:rPr>
              <a:t>« Aucune ligne de logique financière ne sera écrite avant que les conventions de calcul ne soient rédigées. 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4315968"/>
            <a:ext cx="5440679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6657C"/>
                </a:solidFill>
                <a:latin typeface="Calibri"/>
              </a:rPr>
              <a:t>Les arbitrages difficiles n'étaient pas du code, mais des </a:t>
            </a:r>
            <a:r>
              <a:rPr sz="1250" b="1" i="0">
                <a:solidFill>
                  <a:srgbClr val="56657C"/>
                </a:solidFill>
                <a:latin typeface="Calibri"/>
              </a:rPr>
              <a:t>définitions</a:t>
            </a:r>
            <a:r>
              <a:rPr sz="1250" b="0" i="0">
                <a:solidFill>
                  <a:srgbClr val="56657C"/>
                </a:solidFill>
                <a:latin typeface="Calibri"/>
              </a:rPr>
              <a:t> : que compte-t-on dans les charges ? un champ laissé vide vaut-il zéro, ou « hériter de la valeur par défaut » 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4807" y="1481328"/>
            <a:ext cx="506851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005291"/>
                </a:solidFill>
                <a:latin typeface="Calibri"/>
              </a:rPr>
              <a:t>L ' O R G A N I S A T I O N ,   S E M A I N E   P A R   S E M A I N E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6464807" y="1828800"/>
          <a:ext cx="5068518" cy="277977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530426"/>
                <a:gridCol w="1355534"/>
                <a:gridCol w="3182558"/>
              </a:tblGrid>
              <a:tr h="36576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Sem.</a:t>
                      </a:r>
                    </a:p>
                  </a:txBody>
                  <a:tcPr marL="109728" marR="91440" marT="41148" marB="41148" anchor="ctr">
                    <a:solidFill>
                      <a:srgbClr val="0C193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Objet</a:t>
                      </a:r>
                    </a:p>
                  </a:txBody>
                  <a:tcPr marL="109728" marR="91440" marT="41148" marB="41148" anchor="ctr">
                    <a:solidFill>
                      <a:srgbClr val="0C193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Livré</a:t>
                      </a:r>
                    </a:p>
                  </a:txBody>
                  <a:tcPr marL="109728" marR="91440" marT="41148" marB="41148" anchor="ctr">
                    <a:solidFill>
                      <a:srgbClr val="0C1930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0C1930"/>
                          </a:solidFill>
                          <a:latin typeface="Calibri"/>
                        </a:rPr>
                        <a:t>S1</a:t>
                      </a:r>
                    </a:p>
                  </a:txBody>
                  <a:tcPr marL="109728" marR="91440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0C1930"/>
                          </a:solidFill>
                          <a:latin typeface="Calibri"/>
                        </a:rPr>
                        <a:t>Cadrage</a:t>
                      </a:r>
                    </a:p>
                  </a:txBody>
                  <a:tcPr marL="109728" marR="91440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0C1930"/>
                          </a:solidFill>
                          <a:latin typeface="Calibri"/>
                        </a:rPr>
                        <a:t>Cahier des charges, conventions, modèle de données</a:t>
                      </a:r>
                    </a:p>
                  </a:txBody>
                  <a:tcPr marL="109728" marR="91440" marT="41148" marB="41148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0C1930"/>
                          </a:solidFill>
                          <a:latin typeface="Calibri"/>
                        </a:rPr>
                        <a:t>S2</a:t>
                      </a:r>
                    </a:p>
                  </a:txBody>
                  <a:tcPr marL="109728" marR="91440" marT="41148" marB="41148" anchor="ctr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0C1930"/>
                          </a:solidFill>
                          <a:latin typeface="Calibri"/>
                        </a:rPr>
                        <a:t>Moteur et socle</a:t>
                      </a:r>
                    </a:p>
                  </a:txBody>
                  <a:tcPr marL="109728" marR="91440" marT="41148" marB="41148" anchor="ctr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0C1930"/>
                          </a:solidFill>
                          <a:latin typeface="Calibri"/>
                        </a:rPr>
                        <a:t>Moteur financier en Python pur, socle web</a:t>
                      </a:r>
                    </a:p>
                  </a:txBody>
                  <a:tcPr marL="109728" marR="91440" marT="41148" marB="41148" anchor="ctr">
                    <a:solidFill>
                      <a:srgbClr val="F2F5F9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0C1930"/>
                          </a:solidFill>
                          <a:latin typeface="Calibri"/>
                        </a:rPr>
                        <a:t>S3</a:t>
                      </a:r>
                    </a:p>
                  </a:txBody>
                  <a:tcPr marL="109728" marR="91440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0C1930"/>
                          </a:solidFill>
                          <a:latin typeface="Calibri"/>
                        </a:rPr>
                        <a:t>Restitution</a:t>
                      </a:r>
                    </a:p>
                  </a:txBody>
                  <a:tcPr marL="109728" marR="91440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0C1930"/>
                          </a:solidFill>
                          <a:latin typeface="Calibri"/>
                        </a:rPr>
                        <a:t>Graphiques, comparaison de scénarios</a:t>
                      </a:r>
                    </a:p>
                  </a:txBody>
                  <a:tcPr marL="109728" marR="91440" marT="41148" marB="41148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0C1930"/>
                          </a:solidFill>
                          <a:latin typeface="Calibri"/>
                        </a:rPr>
                        <a:t>S4</a:t>
                      </a:r>
                    </a:p>
                  </a:txBody>
                  <a:tcPr marL="109728" marR="91440" marT="41148" marB="41148" anchor="ctr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0C1930"/>
                          </a:solidFill>
                          <a:latin typeface="Calibri"/>
                        </a:rPr>
                        <a:t>Documents client</a:t>
                      </a:r>
                    </a:p>
                  </a:txBody>
                  <a:tcPr marL="109728" marR="91440" marT="41148" marB="41148" anchor="ctr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0C1930"/>
                          </a:solidFill>
                          <a:latin typeface="Calibri"/>
                        </a:rPr>
                        <a:t>Travaux par postes, exports PDF et Excel</a:t>
                      </a:r>
                    </a:p>
                  </a:txBody>
                  <a:tcPr marL="109728" marR="91440" marT="41148" marB="41148" anchor="ctr">
                    <a:solidFill>
                      <a:srgbClr val="F2F5F9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0C1930"/>
                          </a:solidFill>
                          <a:latin typeface="Calibri"/>
                        </a:rPr>
                        <a:t>S5</a:t>
                      </a:r>
                    </a:p>
                  </a:txBody>
                  <a:tcPr marL="109728" marR="91440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0C1930"/>
                          </a:solidFill>
                          <a:latin typeface="Calibri"/>
                        </a:rPr>
                        <a:t>Consolidation</a:t>
                      </a:r>
                    </a:p>
                  </a:txBody>
                  <a:tcPr marL="109728" marR="91440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0C1930"/>
                          </a:solidFill>
                          <a:latin typeface="Calibri"/>
                        </a:rPr>
                        <a:t>Cas réels, cas limites, jeu de démonstration</a:t>
                      </a:r>
                    </a:p>
                  </a:txBody>
                  <a:tcPr marL="109728" marR="91440" marT="41148" marB="41148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0C1930"/>
                          </a:solidFill>
                          <a:latin typeface="Calibri"/>
                        </a:rPr>
                        <a:t>S6</a:t>
                      </a:r>
                    </a:p>
                  </a:txBody>
                  <a:tcPr marL="109728" marR="91440" marT="41148" marB="41148" anchor="ctr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0C1930"/>
                          </a:solidFill>
                          <a:latin typeface="Calibri"/>
                        </a:rPr>
                        <a:t>Cadrage métier</a:t>
                      </a:r>
                    </a:p>
                  </a:txBody>
                  <a:tcPr marL="109728" marR="91440" marT="41148" marB="41148" anchor="ctr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0C1930"/>
                          </a:solidFill>
                          <a:latin typeface="Calibri"/>
                        </a:rPr>
                        <a:t>Entretien, refonte, étude automatique, mise en ligne</a:t>
                      </a:r>
                    </a:p>
                  </a:txBody>
                  <a:tcPr marL="109728" marR="91440" marT="41148" marB="41148" anchor="ctr">
                    <a:solidFill>
                      <a:srgbClr val="F2F5F9"/>
                    </a:solidFill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6464807" y="4910328"/>
            <a:ext cx="506851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6657C"/>
                </a:solidFill>
                <a:latin typeface="Calibri"/>
              </a:rPr>
              <a:t>Un rapport d'avancement chaque dimanche  ·  un jeu de tests au vert à chaque fin de semaine  ·  tout versionné dans Git.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0C19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60704"/>
            <a:ext cx="12191695" cy="50292"/>
          </a:xfrm>
          <a:prstGeom prst="rect">
            <a:avLst/>
          </a:prstGeom>
          <a:solidFill>
            <a:srgbClr val="F9C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58368" y="274320"/>
            <a:ext cx="512064" cy="512064"/>
          </a:xfrm>
          <a:prstGeom prst="ellipse">
            <a:avLst/>
          </a:prstGeom>
          <a:noFill/>
          <a:ln w="13970">
            <a:solidFill>
              <a:srgbClr val="F9CC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9CC28"/>
                </a:solidFill>
                <a:latin typeface="Georgia"/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08176" y="219456"/>
            <a:ext cx="10125151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FFFFFF"/>
                </a:solidFill>
                <a:latin typeface="Georgia"/>
              </a:rPr>
              <a:t>Comment c'est construit</a:t>
            </a:r>
          </a:p>
          <a:p>
            <a:pPr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</a:pPr>
            <a:r>
              <a:rPr sz="1150" b="0" i="0">
                <a:solidFill>
                  <a:srgbClr val="A9B8CC"/>
                </a:solidFill>
                <a:latin typeface="Calibri"/>
              </a:rPr>
              <a:t>Un choix structurant : isoler le calcul de tout le reste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291072"/>
            <a:ext cx="10874959" cy="10972"/>
          </a:xfrm>
          <a:prstGeom prst="rect">
            <a:avLst/>
          </a:prstGeom>
          <a:solidFill>
            <a:srgbClr val="D9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82512"/>
            <a:ext cx="1032631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6657C"/>
                </a:solidFill>
                <a:latin typeface="Calibri"/>
              </a:rPr>
              <a:t>HOUNKPETOHOU Marius  ·  Soutenance de stage opérateur  ·  Choubel Consulting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84687" y="638251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5291"/>
                </a:solidFill>
                <a:latin typeface="Calibri"/>
              </a:rPr>
              <a:t>6 / 16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55648"/>
            <a:ext cx="2286000" cy="960120"/>
          </a:xfrm>
          <a:prstGeom prst="rect">
            <a:avLst/>
          </a:prstGeom>
          <a:solidFill>
            <a:srgbClr val="F2F5F9"/>
          </a:solidFill>
          <a:ln w="9525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C1930"/>
                </a:solidFill>
                <a:latin typeface="Calibri"/>
              </a:rPr>
              <a:t>Navigateur</a:t>
            </a:r>
          </a:p>
          <a:p>
            <a:pPr algn="ctr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</a:pPr>
            <a:r>
              <a:rPr sz="1050" b="0" i="0">
                <a:solidFill>
                  <a:srgbClr val="56657C"/>
                </a:solidFill>
                <a:latin typeface="Calibri"/>
              </a:rPr>
              <a:t>Bootstrap, Chart.js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47287" y="1755648"/>
            <a:ext cx="2651760" cy="960120"/>
          </a:xfrm>
          <a:prstGeom prst="rect">
            <a:avLst/>
          </a:prstGeom>
          <a:solidFill>
            <a:srgbClr val="F2F5F9"/>
          </a:solidFill>
          <a:ln w="9525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C1930"/>
                </a:solidFill>
                <a:latin typeface="Calibri"/>
              </a:rPr>
              <a:t>Application Flask</a:t>
            </a:r>
          </a:p>
          <a:p>
            <a:pPr algn="ctr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</a:pPr>
            <a:r>
              <a:rPr sz="1050" b="0" i="0">
                <a:solidFill>
                  <a:srgbClr val="56657C"/>
                </a:solidFill>
                <a:latin typeface="Calibri"/>
              </a:rPr>
              <a:t>pages, formulaires, sécurité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601968" y="1618488"/>
            <a:ext cx="2880360" cy="1234440"/>
          </a:xfrm>
          <a:prstGeom prst="rect">
            <a:avLst/>
          </a:prstGeom>
          <a:solidFill>
            <a:srgbClr val="E6F7F5"/>
          </a:solidFill>
          <a:ln w="17780">
            <a:solidFill>
              <a:srgbClr val="00BC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C1930"/>
                </a:solidFill>
                <a:latin typeface="Calibri"/>
              </a:rPr>
              <a:t>Moteur financier</a:t>
            </a:r>
          </a:p>
          <a:p>
            <a:pPr algn="ctr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</a:pPr>
            <a:r>
              <a:rPr sz="1050" b="0" i="0">
                <a:solidFill>
                  <a:srgbClr val="56657C"/>
                </a:solidFill>
                <a:latin typeface="Calibri"/>
              </a:rPr>
              <a:t>Python pur, sans Flask</a:t>
            </a:r>
          </a:p>
          <a:p>
            <a:pPr algn="ctr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</a:pPr>
            <a:r>
              <a:rPr sz="950" b="1" i="0">
                <a:solidFill>
                  <a:srgbClr val="00BCAA"/>
                </a:solidFill>
                <a:latin typeface="Calibri"/>
              </a:rPr>
              <a:t>testable seul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47287" y="3355848"/>
            <a:ext cx="2651760" cy="960120"/>
          </a:xfrm>
          <a:prstGeom prst="rect">
            <a:avLst/>
          </a:prstGeom>
          <a:solidFill>
            <a:srgbClr val="F2F5F9"/>
          </a:solidFill>
          <a:ln w="9525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C1930"/>
                </a:solidFill>
                <a:latin typeface="Calibri"/>
              </a:rPr>
              <a:t>Base de données</a:t>
            </a:r>
          </a:p>
          <a:p>
            <a:pPr algn="ctr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</a:pPr>
            <a:r>
              <a:rPr sz="1050" b="0" i="0">
                <a:solidFill>
                  <a:srgbClr val="56657C"/>
                </a:solidFill>
                <a:latin typeface="Calibri"/>
              </a:rPr>
              <a:t>SQLAlchemy + migrations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601968" y="3355848"/>
            <a:ext cx="2880360" cy="960120"/>
          </a:xfrm>
          <a:prstGeom prst="rect">
            <a:avLst/>
          </a:prstGeom>
          <a:solidFill>
            <a:srgbClr val="F2F5F9"/>
          </a:solidFill>
          <a:ln w="9525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C1930"/>
                </a:solidFill>
                <a:latin typeface="Calibri"/>
              </a:rPr>
              <a:t>Exports</a:t>
            </a:r>
          </a:p>
          <a:p>
            <a:pPr algn="ctr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</a:pPr>
            <a:r>
              <a:rPr sz="1050" b="0" i="0">
                <a:solidFill>
                  <a:srgbClr val="56657C"/>
                </a:solidFill>
                <a:latin typeface="Calibri"/>
              </a:rPr>
              <a:t>PDF (WeasyPrint), Excel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944368" y="2235708"/>
            <a:ext cx="502919" cy="0"/>
          </a:xfrm>
          <a:prstGeom prst="line">
            <a:avLst/>
          </a:prstGeom>
          <a:ln w="19050">
            <a:solidFill>
              <a:srgbClr val="00529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099048" y="2235708"/>
            <a:ext cx="502920" cy="0"/>
          </a:xfrm>
          <a:prstGeom prst="line">
            <a:avLst/>
          </a:prstGeom>
          <a:ln w="19050">
            <a:solidFill>
              <a:srgbClr val="00529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4773168" y="2715768"/>
            <a:ext cx="0" cy="640080"/>
          </a:xfrm>
          <a:prstGeom prst="line">
            <a:avLst/>
          </a:prstGeom>
          <a:ln w="19050">
            <a:solidFill>
              <a:srgbClr val="00529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8037576" y="2852928"/>
            <a:ext cx="0" cy="502920"/>
          </a:xfrm>
          <a:prstGeom prst="line">
            <a:avLst/>
          </a:prstGeom>
          <a:ln w="19050">
            <a:solidFill>
              <a:srgbClr val="00529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658368" y="4654296"/>
            <a:ext cx="5282031" cy="1298448"/>
          </a:xfrm>
          <a:prstGeom prst="rect">
            <a:avLst/>
          </a:prstGeom>
          <a:solidFill>
            <a:srgbClr val="F2F5F9"/>
          </a:solidFill>
          <a:ln w="9525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4654296"/>
            <a:ext cx="50292" cy="1298448"/>
          </a:xfrm>
          <a:prstGeom prst="rect">
            <a:avLst/>
          </a:prstGeom>
          <a:solidFill>
            <a:srgbClr val="0052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0976" y="4855464"/>
            <a:ext cx="4733391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005291"/>
                </a:solidFill>
                <a:latin typeface="Calibri"/>
              </a:rPr>
              <a:t>P O U R Q U O I   S É P A R E R   L E   M O T E U R   ?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 i="0">
                <a:solidFill>
                  <a:srgbClr val="00BCAA"/>
                </a:solidFill>
                <a:latin typeface="Calibri"/>
              </a:rPr>
              <a:t>▪  </a:t>
            </a:r>
            <a:r>
              <a:rPr sz="1150" b="0" i="0">
                <a:solidFill>
                  <a:srgbClr val="0C1930"/>
                </a:solidFill>
                <a:latin typeface="Calibri"/>
              </a:rPr>
              <a:t>il se teste sans lancer l'application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 i="0">
                <a:solidFill>
                  <a:srgbClr val="00BCAA"/>
                </a:solidFill>
                <a:latin typeface="Calibri"/>
              </a:rPr>
              <a:t>▪  </a:t>
            </a:r>
            <a:r>
              <a:rPr sz="1150" b="0" i="0">
                <a:solidFill>
                  <a:srgbClr val="0C1930"/>
                </a:solidFill>
                <a:latin typeface="Calibri"/>
              </a:rPr>
              <a:t>il se confronte à des valeurs de référence externes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 i="0">
                <a:solidFill>
                  <a:srgbClr val="00BCAA"/>
                </a:solidFill>
                <a:latin typeface="Calibri"/>
              </a:rPr>
              <a:t>▪  </a:t>
            </a:r>
            <a:r>
              <a:rPr sz="1150" b="0" i="0">
                <a:solidFill>
                  <a:srgbClr val="0C1930"/>
                </a:solidFill>
                <a:latin typeface="Calibri"/>
              </a:rPr>
              <a:t>il est réutilisable ailleurs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51295" y="4654296"/>
            <a:ext cx="5282031" cy="1298448"/>
          </a:xfrm>
          <a:prstGeom prst="rect">
            <a:avLst/>
          </a:prstGeom>
          <a:solidFill>
            <a:srgbClr val="F2F5F9"/>
          </a:solidFill>
          <a:ln w="9525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51295" y="4654296"/>
            <a:ext cx="50292" cy="1298448"/>
          </a:xfrm>
          <a:prstGeom prst="rect">
            <a:avLst/>
          </a:prstGeom>
          <a:solidFill>
            <a:srgbClr val="00BC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43903" y="4855464"/>
            <a:ext cx="4733391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005291"/>
                </a:solidFill>
                <a:latin typeface="Calibri"/>
              </a:rPr>
              <a:t>U N E   D É C I S I O N   D E   C O N C E P T I O N</a:t>
            </a:r>
          </a:p>
          <a:p>
            <a:pPr algn="l">
              <a:lnSpc>
                <a:spcPct val="114000"/>
              </a:lnSpc>
              <a:spcBef>
                <a:spcPts val="300"/>
              </a:spcBef>
              <a:spcAft>
                <a:spcPts val="0"/>
              </a:spcAft>
            </a:pPr>
            <a:r>
              <a:rPr sz="1150" b="0" i="0">
                <a:solidFill>
                  <a:srgbClr val="0C1930"/>
                </a:solidFill>
                <a:latin typeface="Calibri"/>
              </a:rPr>
              <a:t>Les résultats ne sont </a:t>
            </a:r>
            <a:r>
              <a:rPr sz="1150" b="1" i="0">
                <a:solidFill>
                  <a:srgbClr val="0C1930"/>
                </a:solidFill>
                <a:latin typeface="Calibri"/>
              </a:rPr>
              <a:t>jamais stockés</a:t>
            </a:r>
            <a:r>
              <a:rPr sz="1150" b="0" i="0">
                <a:solidFill>
                  <a:srgbClr val="0C1930"/>
                </a:solidFill>
                <a:latin typeface="Calibri"/>
              </a:rPr>
              <a:t>, toujours recalculés : une incohérence entre les hypothèses affichées et les indicateurs devient structurellement impossible.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0C19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60704"/>
            <a:ext cx="12191695" cy="50292"/>
          </a:xfrm>
          <a:prstGeom prst="rect">
            <a:avLst/>
          </a:prstGeom>
          <a:solidFill>
            <a:srgbClr val="F9C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58368" y="274320"/>
            <a:ext cx="512064" cy="512064"/>
          </a:xfrm>
          <a:prstGeom prst="ellipse">
            <a:avLst/>
          </a:prstGeom>
          <a:noFill/>
          <a:ln w="13970">
            <a:solidFill>
              <a:srgbClr val="F9CC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9CC28"/>
                </a:solidFill>
                <a:latin typeface="Georgia"/>
              </a:rP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08176" y="219456"/>
            <a:ext cx="10125151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FFFFFF"/>
                </a:solidFill>
                <a:latin typeface="Georgia"/>
              </a:rPr>
              <a:t>Réalisation — partir du besoin, pas du bien</a:t>
            </a:r>
          </a:p>
          <a:p>
            <a:pPr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</a:pPr>
            <a:r>
              <a:rPr sz="1150" b="0" i="0">
                <a:solidFill>
                  <a:srgbClr val="A9B8CC"/>
                </a:solidFill>
                <a:latin typeface="Calibri"/>
              </a:rPr>
              <a:t>Le brief de recherche : les critères recueillis au premier entretien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291072"/>
            <a:ext cx="10874959" cy="10972"/>
          </a:xfrm>
          <a:prstGeom prst="rect">
            <a:avLst/>
          </a:prstGeom>
          <a:solidFill>
            <a:srgbClr val="D9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82512"/>
            <a:ext cx="1032631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6657C"/>
                </a:solidFill>
                <a:latin typeface="Calibri"/>
              </a:rPr>
              <a:t>HOUNKPETOHOU Marius  ·  Soutenance de stage opérateur  ·  Choubel Consulting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84687" y="638251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5291"/>
                </a:solidFill>
                <a:latin typeface="Calibri"/>
              </a:rPr>
              <a:t>7 / 16</a:t>
            </a:r>
          </a:p>
        </p:txBody>
      </p:sp>
      <p:pic>
        <p:nvPicPr>
          <p:cNvPr id="9" name="Picture 8" descr="app_brie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482899"/>
            <a:ext cx="10874959" cy="3398424"/>
          </a:xfrm>
          <a:prstGeom prst="rect">
            <a:avLst/>
          </a:prstGeom>
          <a:ln w="9525">
            <a:solidFill>
              <a:srgbClr val="D9E0EA"/>
            </a:solidFill>
          </a:ln>
        </p:spPr>
      </p:pic>
      <p:sp>
        <p:nvSpPr>
          <p:cNvPr id="10" name="Rectangle 9"/>
          <p:cNvSpPr/>
          <p:nvPr/>
        </p:nvSpPr>
        <p:spPr>
          <a:xfrm>
            <a:off x="658368" y="5029200"/>
            <a:ext cx="5282031" cy="1042415"/>
          </a:xfrm>
          <a:prstGeom prst="rect">
            <a:avLst/>
          </a:prstGeom>
          <a:solidFill>
            <a:srgbClr val="F2F5F9"/>
          </a:solidFill>
          <a:ln w="9525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5029200"/>
            <a:ext cx="50292" cy="1042415"/>
          </a:xfrm>
          <a:prstGeom prst="rect">
            <a:avLst/>
          </a:prstGeom>
          <a:solidFill>
            <a:srgbClr val="0052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0976" y="5212080"/>
            <a:ext cx="4733391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0C1930"/>
                </a:solidFill>
                <a:latin typeface="Calibri"/>
              </a:rPr>
              <a:t>Type de bien, standing, superficie, distribution, commodités, zone, budget, mode de financement — ajustés au bien cherché.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51295" y="5029200"/>
            <a:ext cx="5282031" cy="1042415"/>
          </a:xfrm>
          <a:prstGeom prst="rect">
            <a:avLst/>
          </a:prstGeom>
          <a:solidFill>
            <a:srgbClr val="0C19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43903" y="5212080"/>
            <a:ext cx="4733391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Calibri"/>
              </a:rPr>
              <a:t>Et surtout : l'</a:t>
            </a:r>
            <a:r>
              <a:rPr sz="1250" b="1" i="0">
                <a:solidFill>
                  <a:srgbClr val="F9CC28"/>
                </a:solidFill>
                <a:latin typeface="Calibri"/>
              </a:rPr>
              <a:t>objectif</a:t>
            </a:r>
            <a:r>
              <a:rPr sz="1250" b="0" i="0">
                <a:solidFill>
                  <a:srgbClr val="FFFFFF"/>
                </a:solidFill>
                <a:latin typeface="Calibri"/>
              </a:rPr>
              <a:t> et l'</a:t>
            </a:r>
            <a:r>
              <a:rPr sz="1250" b="1" i="0">
                <a:solidFill>
                  <a:srgbClr val="F9CC28"/>
                </a:solidFill>
                <a:latin typeface="Calibri"/>
              </a:rPr>
              <a:t>horizon</a:t>
            </a:r>
            <a:r>
              <a:rPr sz="1250" b="0" i="0">
                <a:solidFill>
                  <a:srgbClr val="FFFFFF"/>
                </a:solidFill>
                <a:latin typeface="Calibri"/>
              </a:rPr>
              <a:t> du client, qui serviront ensuite à lire les indicateurs. Cet écran n'existait pas avant la semaine 6.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0C19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60704"/>
            <a:ext cx="12191695" cy="50292"/>
          </a:xfrm>
          <a:prstGeom prst="rect">
            <a:avLst/>
          </a:prstGeom>
          <a:solidFill>
            <a:srgbClr val="F9C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58368" y="274320"/>
            <a:ext cx="512064" cy="512064"/>
          </a:xfrm>
          <a:prstGeom prst="ellipse">
            <a:avLst/>
          </a:prstGeom>
          <a:noFill/>
          <a:ln w="13970">
            <a:solidFill>
              <a:srgbClr val="F9CC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9CC28"/>
                </a:solidFill>
                <a:latin typeface="Georgia"/>
              </a:rP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08176" y="219456"/>
            <a:ext cx="10125151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FFFFFF"/>
                </a:solidFill>
                <a:latin typeface="Georgia"/>
              </a:rPr>
              <a:t>Réalisation — ce que le conseiller montre au client</a:t>
            </a:r>
          </a:p>
          <a:p>
            <a:pPr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</a:pPr>
            <a:r>
              <a:rPr sz="1150" b="0" i="0">
                <a:solidFill>
                  <a:srgbClr val="A9B8CC"/>
                </a:solidFill>
                <a:latin typeface="Calibri"/>
              </a:rPr>
              <a:t>Les indicateurs, puis les montages comparés côte à côte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291072"/>
            <a:ext cx="10874959" cy="10972"/>
          </a:xfrm>
          <a:prstGeom prst="rect">
            <a:avLst/>
          </a:prstGeom>
          <a:solidFill>
            <a:srgbClr val="D9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82512"/>
            <a:ext cx="1032631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6657C"/>
                </a:solidFill>
                <a:latin typeface="Calibri"/>
              </a:rPr>
              <a:t>HOUNKPETOHOU Marius  ·  Soutenance de stage opérateur  ·  Choubel Consulting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84687" y="638251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5291"/>
                </a:solidFill>
                <a:latin typeface="Calibri"/>
              </a:rPr>
              <a:t>8 / 16</a:t>
            </a:r>
          </a:p>
        </p:txBody>
      </p:sp>
      <p:pic>
        <p:nvPicPr>
          <p:cNvPr id="9" name="Picture 8" descr="app_resultats_locati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131" y="1481328"/>
            <a:ext cx="5241073" cy="2148840"/>
          </a:xfrm>
          <a:prstGeom prst="rect">
            <a:avLst/>
          </a:prstGeom>
          <a:ln w="9525">
            <a:solidFill>
              <a:srgbClr val="D9E0EA"/>
            </a:solidFill>
          </a:ln>
        </p:spPr>
      </p:pic>
      <p:sp>
        <p:nvSpPr>
          <p:cNvPr id="10" name="Rectangle 9"/>
          <p:cNvSpPr/>
          <p:nvPr/>
        </p:nvSpPr>
        <p:spPr>
          <a:xfrm>
            <a:off x="658368" y="3785616"/>
            <a:ext cx="5254599" cy="960120"/>
          </a:xfrm>
          <a:prstGeom prst="rect">
            <a:avLst/>
          </a:prstGeom>
          <a:solidFill>
            <a:srgbClr val="F2F5F9"/>
          </a:solidFill>
          <a:ln w="9525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3785616"/>
            <a:ext cx="50292" cy="960120"/>
          </a:xfrm>
          <a:prstGeom prst="rect">
            <a:avLst/>
          </a:prstGeom>
          <a:solidFill>
            <a:srgbClr val="00BC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3950208"/>
            <a:ext cx="4724247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C1930"/>
                </a:solidFill>
                <a:latin typeface="Calibri"/>
              </a:rPr>
              <a:t>Rendement net</a:t>
            </a:r>
            <a:r>
              <a:rPr sz="1200" b="0" i="0">
                <a:solidFill>
                  <a:srgbClr val="0C1930"/>
                </a:solidFill>
                <a:latin typeface="Calibri"/>
              </a:rPr>
              <a:t> et </a:t>
            </a:r>
            <a:r>
              <a:rPr sz="1200" b="1" i="0">
                <a:solidFill>
                  <a:srgbClr val="0C1930"/>
                </a:solidFill>
                <a:latin typeface="Calibri"/>
              </a:rPr>
              <a:t>cash-flow</a:t>
            </a:r>
            <a:r>
              <a:rPr sz="1200" b="0" i="0">
                <a:solidFill>
                  <a:srgbClr val="0C1930"/>
                </a:solidFill>
                <a:latin typeface="Calibri"/>
              </a:rPr>
              <a:t> en première ligne. Valeur créée, TRI et VAN au second rang. </a:t>
            </a:r>
            <a:r>
              <a:rPr sz="1200" b="1" i="0">
                <a:solidFill>
                  <a:srgbClr val="005291"/>
                </a:solidFill>
                <a:latin typeface="Calibri"/>
              </a:rPr>
              <a:t>Aucun seuil de rentabilité</a:t>
            </a:r>
            <a:r>
              <a:rPr sz="1200" b="0" i="0">
                <a:solidFill>
                  <a:srgbClr val="0C1930"/>
                </a:solidFill>
                <a:latin typeface="Calibri"/>
              </a:rPr>
              <a:t> : ils se lisent à l'aune de l'objectif du client.</a:t>
            </a:r>
          </a:p>
        </p:txBody>
      </p:sp>
      <p:pic>
        <p:nvPicPr>
          <p:cNvPr id="13" name="Picture 12" descr="app_compara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5490" y="1481328"/>
            <a:ext cx="5241073" cy="2148840"/>
          </a:xfrm>
          <a:prstGeom prst="rect">
            <a:avLst/>
          </a:prstGeom>
          <a:ln w="9525">
            <a:solidFill>
              <a:srgbClr val="D9E0EA"/>
            </a:solidFill>
          </a:ln>
        </p:spPr>
      </p:pic>
      <p:sp>
        <p:nvSpPr>
          <p:cNvPr id="14" name="Rectangle 13"/>
          <p:cNvSpPr/>
          <p:nvPr/>
        </p:nvSpPr>
        <p:spPr>
          <a:xfrm>
            <a:off x="6278727" y="3785616"/>
            <a:ext cx="5254599" cy="960120"/>
          </a:xfrm>
          <a:prstGeom prst="rect">
            <a:avLst/>
          </a:prstGeom>
          <a:solidFill>
            <a:srgbClr val="F2F5F9"/>
          </a:solidFill>
          <a:ln w="9525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78727" y="3785616"/>
            <a:ext cx="50292" cy="960120"/>
          </a:xfrm>
          <a:prstGeom prst="rect">
            <a:avLst/>
          </a:prstGeom>
          <a:solidFill>
            <a:srgbClr val="00BC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53047" y="3950208"/>
            <a:ext cx="4724247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0C1930"/>
                </a:solidFill>
                <a:latin typeface="Calibri"/>
              </a:rPr>
              <a:t>Trois montages pour le même bien : l'écran d'arbitrage du rendez-vous. Chaque scénario s'exporte en </a:t>
            </a:r>
            <a:r>
              <a:rPr sz="1200" b="1" i="0">
                <a:solidFill>
                  <a:srgbClr val="0C1930"/>
                </a:solidFill>
                <a:latin typeface="Calibri"/>
              </a:rPr>
              <a:t>PDF</a:t>
            </a:r>
            <a:r>
              <a:rPr sz="1200" b="0" i="0">
                <a:solidFill>
                  <a:srgbClr val="0C1930"/>
                </a:solidFill>
                <a:latin typeface="Calibri"/>
              </a:rPr>
              <a:t> et en </a:t>
            </a:r>
            <a:r>
              <a:rPr sz="1200" b="1" i="0">
                <a:solidFill>
                  <a:srgbClr val="0C1930"/>
                </a:solidFill>
                <a:latin typeface="Calibri"/>
              </a:rPr>
              <a:t>Excel</a:t>
            </a:r>
            <a:r>
              <a:rPr sz="1200" b="0" i="0">
                <a:solidFill>
                  <a:srgbClr val="0C1930"/>
                </a:solidFill>
                <a:latin typeface="Calibri"/>
              </a:rPr>
              <a:t> aux couleurs du cabinet.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" y="4956048"/>
            <a:ext cx="10874959" cy="932688"/>
          </a:xfrm>
          <a:prstGeom prst="rect">
            <a:avLst/>
          </a:prstGeom>
          <a:solidFill>
            <a:srgbClr val="0C19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9264" y="5138928"/>
            <a:ext cx="1023487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Les conventions de calcul sont imprimées dans chaque export</a:t>
            </a:r>
            <a:r>
              <a:rPr sz="1250" b="0" i="0">
                <a:solidFill>
                  <a:srgbClr val="FFFFFF"/>
                </a:solidFill>
                <a:latin typeface="Calibri"/>
              </a:rPr>
              <a:t> — périmètre des charges, fiscalité au taux effectif, travaux intégrés au coût d'acquisition. Le conseiller ne peut pas être contredit sur un chiffre dont la convention est écrite sous le tableau.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0C19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60704"/>
            <a:ext cx="12191695" cy="50292"/>
          </a:xfrm>
          <a:prstGeom prst="rect">
            <a:avLst/>
          </a:prstGeom>
          <a:solidFill>
            <a:srgbClr val="F9C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58368" y="274320"/>
            <a:ext cx="512064" cy="512064"/>
          </a:xfrm>
          <a:prstGeom prst="ellipse">
            <a:avLst/>
          </a:prstGeom>
          <a:noFill/>
          <a:ln w="13970">
            <a:solidFill>
              <a:srgbClr val="F9CC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9CC28"/>
                </a:solidFill>
                <a:latin typeface="Georgia"/>
              </a:rPr>
              <a:t>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08176" y="219456"/>
            <a:ext cx="10125151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FFFFFF"/>
                </a:solidFill>
                <a:latin typeface="Georgia"/>
              </a:rPr>
              <a:t>Le tournant du stage</a:t>
            </a:r>
          </a:p>
          <a:p>
            <a:pPr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</a:pPr>
            <a:r>
              <a:rPr sz="1150" b="0" i="0">
                <a:solidFill>
                  <a:srgbClr val="A9B8CC"/>
                </a:solidFill>
                <a:latin typeface="Calibri"/>
              </a:rPr>
              <a:t>Semaine 6 : huit questions au tuteur — et trois hypothèses sur quatre invalidées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291072"/>
            <a:ext cx="10874959" cy="10972"/>
          </a:xfrm>
          <a:prstGeom prst="rect">
            <a:avLst/>
          </a:prstGeom>
          <a:solidFill>
            <a:srgbClr val="D9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82512"/>
            <a:ext cx="1032631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6657C"/>
                </a:solidFill>
                <a:latin typeface="Calibri"/>
              </a:rPr>
              <a:t>HOUNKPETOHOU Marius  ·  Soutenance de stage opérateur  ·  Choubel Consulting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84687" y="638251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5291"/>
                </a:solidFill>
                <a:latin typeface="Calibri"/>
              </a:rPr>
              <a:t>9 / 16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481328"/>
            <a:ext cx="5669279" cy="2788920"/>
          </a:xfrm>
          <a:prstGeom prst="rect">
            <a:avLst/>
          </a:prstGeom>
          <a:solidFill>
            <a:srgbClr val="0C19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" y="1755648"/>
            <a:ext cx="4937759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60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F9CC28"/>
                </a:solidFill>
                <a:latin typeface="Georgia"/>
              </a:rPr>
              <a:t>“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FFFFFF"/>
                </a:solidFill>
                <a:latin typeface="Calibri"/>
              </a:rPr>
              <a:t>Les deux critères les plus récurrents sont le </a:t>
            </a:r>
            <a:r>
              <a:rPr sz="1300" b="1" i="0">
                <a:solidFill>
                  <a:srgbClr val="F9CC28"/>
                </a:solidFill>
                <a:latin typeface="Calibri"/>
              </a:rPr>
              <a:t>rendement net</a:t>
            </a:r>
            <a:r>
              <a:rPr sz="1300" b="0" i="0">
                <a:solidFill>
                  <a:srgbClr val="FFFFFF"/>
                </a:solidFill>
                <a:latin typeface="Calibri"/>
              </a:rPr>
              <a:t> et le </a:t>
            </a:r>
            <a:r>
              <a:rPr sz="1300" b="1" i="0">
                <a:solidFill>
                  <a:srgbClr val="F9CC28"/>
                </a:solidFill>
                <a:latin typeface="Calibri"/>
              </a:rPr>
              <a:t>cash-flow</a:t>
            </a:r>
            <a:r>
              <a:rPr sz="1300" b="0" i="0">
                <a:solidFill>
                  <a:srgbClr val="FFFFFF"/>
                </a:solidFill>
                <a:latin typeface="Calibri"/>
              </a:rPr>
              <a:t>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FFFFFF"/>
                </a:solidFill>
                <a:latin typeface="Calibri"/>
              </a:rPr>
              <a:t>Un investissement est bon lorsqu'il permet au client de </a:t>
            </a:r>
            <a:r>
              <a:rPr sz="1300" b="1" i="0">
                <a:solidFill>
                  <a:srgbClr val="F9CC28"/>
                </a:solidFill>
                <a:latin typeface="Calibri"/>
              </a:rPr>
              <a:t>générer de la valeur</a:t>
            </a:r>
            <a:r>
              <a:rPr sz="1300" b="0" i="0">
                <a:solidFill>
                  <a:srgbClr val="FFFFFF"/>
                </a:solidFill>
                <a:latin typeface="Calibri"/>
              </a:rPr>
              <a:t>. Tout dépend donc de son </a:t>
            </a:r>
            <a:r>
              <a:rPr sz="1300" b="1" i="0">
                <a:solidFill>
                  <a:srgbClr val="F9CC28"/>
                </a:solidFill>
                <a:latin typeface="Calibri"/>
              </a:rPr>
              <a:t>horizon</a:t>
            </a:r>
            <a:r>
              <a:rPr sz="1300" b="0" i="0">
                <a:solidFill>
                  <a:srgbClr val="FFFFFF"/>
                </a:solidFill>
                <a:latin typeface="Calibri"/>
              </a:rPr>
              <a:t> et du </a:t>
            </a:r>
            <a:r>
              <a:rPr sz="1300" b="1" i="0">
                <a:solidFill>
                  <a:srgbClr val="F9CC28"/>
                </a:solidFill>
                <a:latin typeface="Calibri"/>
              </a:rPr>
              <a:t>facteur temps</a:t>
            </a:r>
            <a:r>
              <a:rPr sz="1300" b="0" i="0">
                <a:solidFill>
                  <a:srgbClr val="FFFFFF"/>
                </a:solidFill>
                <a:latin typeface="Calibri"/>
              </a:rPr>
              <a:t>.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1">
                <a:solidFill>
                  <a:srgbClr val="8E9EB4"/>
                </a:solidFill>
                <a:latin typeface="Calibri"/>
              </a:rPr>
              <a:t>Entretien de cadrage métier, août 2026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693407" y="1481328"/>
            <a:ext cx="4839919" cy="1298448"/>
          </a:xfrm>
          <a:prstGeom prst="rect">
            <a:avLst/>
          </a:prstGeom>
          <a:solidFill>
            <a:srgbClr val="F2F5F9"/>
          </a:solidFill>
          <a:ln w="9525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693407" y="1481328"/>
            <a:ext cx="50292" cy="1298448"/>
          </a:xfrm>
          <a:prstGeom prst="rect">
            <a:avLst/>
          </a:prstGeom>
          <a:solidFill>
            <a:srgbClr val="5665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86016" y="1664208"/>
            <a:ext cx="4291279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56657C"/>
                </a:solidFill>
                <a:latin typeface="Calibri"/>
              </a:rPr>
              <a:t>C E   Q U E   J E   C R O Y A I S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 i="0">
                <a:solidFill>
                  <a:srgbClr val="56657C"/>
                </a:solidFill>
                <a:latin typeface="Calibri"/>
              </a:rPr>
              <a:t>▪  </a:t>
            </a:r>
            <a:r>
              <a:rPr sz="1150" b="0" i="0">
                <a:solidFill>
                  <a:srgbClr val="0C1930"/>
                </a:solidFill>
                <a:latin typeface="Calibri"/>
              </a:rPr>
              <a:t>Le TRI et la VAN décident.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 i="0">
                <a:solidFill>
                  <a:srgbClr val="56657C"/>
                </a:solidFill>
                <a:latin typeface="Calibri"/>
              </a:rPr>
              <a:t>▪  </a:t>
            </a:r>
            <a:r>
              <a:rPr sz="1150" b="0" i="0">
                <a:solidFill>
                  <a:srgbClr val="0C1930"/>
                </a:solidFill>
                <a:latin typeface="Calibri"/>
              </a:rPr>
              <a:t>Il existe un seuil de rentabilité.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 i="0">
                <a:solidFill>
                  <a:srgbClr val="56657C"/>
                </a:solidFill>
                <a:latin typeface="Calibri"/>
              </a:rPr>
              <a:t>▪  </a:t>
            </a:r>
            <a:r>
              <a:rPr sz="1150" b="0" i="0">
                <a:solidFill>
                  <a:srgbClr val="0C1930"/>
                </a:solidFill>
                <a:latin typeface="Calibri"/>
              </a:rPr>
              <a:t>Tout bien produit un loyer.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693407" y="2962656"/>
            <a:ext cx="4839919" cy="1298448"/>
          </a:xfrm>
          <a:prstGeom prst="rect">
            <a:avLst/>
          </a:prstGeom>
          <a:solidFill>
            <a:srgbClr val="F2F5F9"/>
          </a:solidFill>
          <a:ln w="9525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693407" y="2962656"/>
            <a:ext cx="50292" cy="1298448"/>
          </a:xfrm>
          <a:prstGeom prst="rect">
            <a:avLst/>
          </a:prstGeom>
          <a:solidFill>
            <a:srgbClr val="00BC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86016" y="3145536"/>
            <a:ext cx="4291279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00BCAA"/>
                </a:solidFill>
                <a:latin typeface="Calibri"/>
              </a:rPr>
              <a:t>C E   Q U E   L E   M É T I E R   F A I T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 i="0">
                <a:solidFill>
                  <a:srgbClr val="00BCAA"/>
                </a:solidFill>
                <a:latin typeface="Calibri"/>
              </a:rPr>
              <a:t>▪  </a:t>
            </a:r>
            <a:r>
              <a:rPr sz="1150" b="0" i="0">
                <a:solidFill>
                  <a:srgbClr val="0C1930"/>
                </a:solidFill>
                <a:latin typeface="Calibri"/>
              </a:rPr>
              <a:t>Rendement net et cash-flow d'abord.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 i="0">
                <a:solidFill>
                  <a:srgbClr val="00BCAA"/>
                </a:solidFill>
                <a:latin typeface="Calibri"/>
              </a:rPr>
              <a:t>▪  </a:t>
            </a:r>
            <a:r>
              <a:rPr sz="1150" b="0" i="0">
                <a:solidFill>
                  <a:srgbClr val="0C1930"/>
                </a:solidFill>
                <a:latin typeface="Calibri"/>
              </a:rPr>
              <a:t>Aucun seuil : le client tranche.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 i="0">
                <a:solidFill>
                  <a:srgbClr val="00BCAA"/>
                </a:solidFill>
                <a:latin typeface="Calibri"/>
              </a:rPr>
              <a:t>▪  </a:t>
            </a:r>
            <a:r>
              <a:rPr sz="1150" b="0" i="0">
                <a:solidFill>
                  <a:srgbClr val="0C1930"/>
                </a:solidFill>
                <a:latin typeface="Calibri"/>
              </a:rPr>
              <a:t>Les deux meilleurs dossiers n'ont aucun loyer.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" y="4498848"/>
            <a:ext cx="10874959" cy="960120"/>
          </a:xfrm>
          <a:prstGeom prst="rect">
            <a:avLst/>
          </a:prstGeom>
          <a:solidFill>
            <a:srgbClr val="F2F5F9"/>
          </a:solidFill>
          <a:ln w="9525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8368" y="4498848"/>
            <a:ext cx="50292" cy="960120"/>
          </a:xfrm>
          <a:prstGeom prst="rect">
            <a:avLst/>
          </a:prstGeom>
          <a:solidFill>
            <a:srgbClr val="B00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9264" y="4681728"/>
            <a:ext cx="10234879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B00020"/>
                </a:solidFill>
                <a:latin typeface="Calibri"/>
              </a:rPr>
              <a:t>Mon erreur de méthode.  </a:t>
            </a:r>
            <a:r>
              <a:rPr sz="1250" b="0" i="0">
                <a:solidFill>
                  <a:srgbClr val="0C1930"/>
                </a:solidFill>
                <a:latin typeface="Calibri"/>
              </a:rPr>
              <a:t>Cet entretien aurait dû avoir lieu en semaine 1, pas en semaine 6. Cinq semaines ont reposé sur des hypothèses non vérifiées : j'avais pris le silence de départ pour un accord.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0C19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60704"/>
            <a:ext cx="12191695" cy="50292"/>
          </a:xfrm>
          <a:prstGeom prst="rect">
            <a:avLst/>
          </a:prstGeom>
          <a:solidFill>
            <a:srgbClr val="F9C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58368" y="274320"/>
            <a:ext cx="512064" cy="512064"/>
          </a:xfrm>
          <a:prstGeom prst="ellipse">
            <a:avLst/>
          </a:prstGeom>
          <a:noFill/>
          <a:ln w="13970">
            <a:solidFill>
              <a:srgbClr val="F9CC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9CC28"/>
                </a:solidFill>
                <a:latin typeface="Georgi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08176" y="219456"/>
            <a:ext cx="10125151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FFFFFF"/>
                </a:solidFill>
                <a:latin typeface="Georgia"/>
              </a:rPr>
              <a:t>Les deux dossiers qui ont tout changé</a:t>
            </a:r>
          </a:p>
          <a:p>
            <a:pPr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</a:pPr>
            <a:r>
              <a:rPr sz="1150" b="0" i="0">
                <a:solidFill>
                  <a:srgbClr val="A9B8CC"/>
                </a:solidFill>
                <a:latin typeface="Calibri"/>
              </a:rPr>
              <a:t>Même capital, même cabinet — le classement dépend de la durée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291072"/>
            <a:ext cx="10874959" cy="10972"/>
          </a:xfrm>
          <a:prstGeom prst="rect">
            <a:avLst/>
          </a:prstGeom>
          <a:solidFill>
            <a:srgbClr val="D9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82512"/>
            <a:ext cx="1032631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6657C"/>
                </a:solidFill>
                <a:latin typeface="Calibri"/>
              </a:rPr>
              <a:t>HOUNKPETOHOU Marius  ·  Soutenance de stage opérateur  ·  Choubel Consulting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84687" y="638251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5291"/>
                </a:solidFill>
                <a:latin typeface="Calibri"/>
              </a:rPr>
              <a:t>10 / 16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58368" y="1481328"/>
          <a:ext cx="7452358" cy="270662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386485"/>
                <a:gridCol w="2946281"/>
                <a:gridCol w="3119592"/>
              </a:tblGrid>
              <a:tr h="420624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109728" marR="91440" marT="41148" marB="41148" anchor="ctr">
                    <a:solidFill>
                      <a:srgbClr val="0C193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Client 1 — portage foncier</a:t>
                      </a:r>
                    </a:p>
                  </a:txBody>
                  <a:tcPr marL="109728" marR="91440" marT="41148" marB="41148" anchor="ctr">
                    <a:solidFill>
                      <a:srgbClr val="0C193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Client 2 — construction-revente</a:t>
                      </a:r>
                    </a:p>
                  </a:txBody>
                  <a:tcPr marL="109728" marR="91440" marT="41148" marB="41148" anchor="ctr">
                    <a:solidFill>
                      <a:srgbClr val="0C1930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0C1930"/>
                          </a:solidFill>
                          <a:latin typeface="Calibri"/>
                        </a:rPr>
                        <a:t>Budget</a:t>
                      </a:r>
                    </a:p>
                  </a:txBody>
                  <a:tcPr marL="109728" marR="91440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0C1930"/>
                          </a:solidFill>
                          <a:latin typeface="Calibri"/>
                        </a:rPr>
                        <a:t>≈ 1 000 000 MAD</a:t>
                      </a:r>
                    </a:p>
                  </a:txBody>
                  <a:tcPr marL="109728" marR="91440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0C1930"/>
                          </a:solidFill>
                          <a:latin typeface="Calibri"/>
                        </a:rPr>
                        <a:t>≈ 1 000 000 MAD</a:t>
                      </a:r>
                    </a:p>
                  </a:txBody>
                  <a:tcPr marL="109728" marR="91440" marT="41148" marB="4114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0C1930"/>
                          </a:solidFill>
                          <a:latin typeface="Calibri"/>
                        </a:rPr>
                        <a:t>Bien</a:t>
                      </a:r>
                    </a:p>
                  </a:txBody>
                  <a:tcPr marL="109728" marR="91440" marT="41148" marB="41148" anchor="ctr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0C1930"/>
                          </a:solidFill>
                          <a:latin typeface="Calibri"/>
                        </a:rPr>
                        <a:t>Terrain de 3 ha, zone ciblée</a:t>
                      </a:r>
                    </a:p>
                  </a:txBody>
                  <a:tcPr marL="109728" marR="91440" marT="41148" marB="41148" anchor="ctr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0C1930"/>
                          </a:solidFill>
                          <a:latin typeface="Calibri"/>
                        </a:rPr>
                        <a:t>Terrain viabilisé de 500 m² à 1,1 M</a:t>
                      </a:r>
                    </a:p>
                  </a:txBody>
                  <a:tcPr marL="109728" marR="91440" marT="41148" marB="41148" anchor="ctr">
                    <a:solidFill>
                      <a:srgbClr val="F2F5F9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0C1930"/>
                          </a:solidFill>
                          <a:latin typeface="Calibri"/>
                        </a:rPr>
                        <a:t>Opération</a:t>
                      </a:r>
                    </a:p>
                  </a:txBody>
                  <a:tcPr marL="109728" marR="91440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0C1930"/>
                          </a:solidFill>
                          <a:latin typeface="Calibri"/>
                        </a:rPr>
                        <a:t>Conservé, sans mise en valeur</a:t>
                      </a:r>
                    </a:p>
                  </a:txBody>
                  <a:tcPr marL="109728" marR="91440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0C1930"/>
                          </a:solidFill>
                          <a:latin typeface="Calibri"/>
                        </a:rPr>
                        <a:t>Immeuble R+4, 20 appartements revendus</a:t>
                      </a:r>
                    </a:p>
                  </a:txBody>
                  <a:tcPr marL="109728" marR="91440" marT="41148" marB="4114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1">
                          <a:solidFill>
                            <a:srgbClr val="0C1930"/>
                          </a:solidFill>
                          <a:latin typeface="Calibri"/>
                        </a:rPr>
                        <a:t>Horizon</a:t>
                      </a:r>
                    </a:p>
                  </a:txBody>
                  <a:tcPr marL="109728" marR="91440" marT="41148" marB="41148" anchor="ctr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1">
                          <a:solidFill>
                            <a:srgbClr val="0C1930"/>
                          </a:solidFill>
                          <a:latin typeface="Calibri"/>
                        </a:rPr>
                        <a:t>10 ans</a:t>
                      </a:r>
                    </a:p>
                  </a:txBody>
                  <a:tcPr marL="109728" marR="91440" marT="41148" marB="41148" anchor="ctr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1">
                          <a:solidFill>
                            <a:srgbClr val="0C1930"/>
                          </a:solidFill>
                          <a:latin typeface="Calibri"/>
                        </a:rPr>
                        <a:t>2 ans</a:t>
                      </a:r>
                    </a:p>
                  </a:txBody>
                  <a:tcPr marL="109728" marR="91440" marT="41148" marB="41148" anchor="ctr">
                    <a:solidFill>
                      <a:srgbClr val="F2F5F9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1">
                          <a:solidFill>
                            <a:srgbClr val="0C1930"/>
                          </a:solidFill>
                          <a:latin typeface="Calibri"/>
                        </a:rPr>
                        <a:t>Résultat</a:t>
                      </a:r>
                    </a:p>
                  </a:txBody>
                  <a:tcPr marL="109728" marR="91440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1">
                          <a:solidFill>
                            <a:srgbClr val="0C1930"/>
                          </a:solidFill>
                          <a:latin typeface="Calibri"/>
                        </a:rPr>
                        <a:t>≈ 15 000 000 MAD de bénéfice</a:t>
                      </a:r>
                    </a:p>
                  </a:txBody>
                  <a:tcPr marL="109728" marR="91440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1">
                          <a:solidFill>
                            <a:srgbClr val="0C1930"/>
                          </a:solidFill>
                          <a:latin typeface="Calibri"/>
                        </a:rPr>
                        <a:t>5 000 000 MAD de plus-value</a:t>
                      </a:r>
                    </a:p>
                  </a:txBody>
                  <a:tcPr marL="109728" marR="91440" marT="41148" marB="4114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658368" y="4334256"/>
            <a:ext cx="7452360" cy="1115568"/>
          </a:xfrm>
          <a:prstGeom prst="rect">
            <a:avLst/>
          </a:prstGeom>
          <a:solidFill>
            <a:srgbClr val="0C19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9264" y="4535424"/>
            <a:ext cx="68122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Calibri"/>
              </a:rPr>
              <a:t>À deux ans, le client 2 a fait la meilleure opération. À dix ans, le classement s'inverse. </a:t>
            </a:r>
            <a:r>
              <a:rPr sz="1300" b="1" i="0">
                <a:solidFill>
                  <a:srgbClr val="F9CC28"/>
                </a:solidFill>
                <a:latin typeface="Calibri"/>
              </a:rPr>
              <a:t>Aucun des deux dossiers n'a de loyer.</a:t>
            </a:r>
          </a:p>
        </p:txBody>
      </p:sp>
      <p:pic>
        <p:nvPicPr>
          <p:cNvPr id="12" name="Picture 11" descr="casablanca_marina_chanti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6488" y="1523733"/>
            <a:ext cx="3056839" cy="2292629"/>
          </a:xfrm>
          <a:prstGeom prst="rect">
            <a:avLst/>
          </a:prstGeom>
          <a:ln w="9525">
            <a:solidFill>
              <a:srgbClr val="D9E0EA"/>
            </a:solidFill>
          </a:ln>
        </p:spPr>
      </p:pic>
      <p:sp>
        <p:nvSpPr>
          <p:cNvPr id="13" name="TextBox 12"/>
          <p:cNvSpPr txBox="1"/>
          <p:nvPr/>
        </p:nvSpPr>
        <p:spPr>
          <a:xfrm>
            <a:off x="8476488" y="3968496"/>
            <a:ext cx="3056839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6657C"/>
                </a:solidFill>
                <a:latin typeface="Calibri"/>
              </a:rPr>
              <a:t>Un chantier à Casablanca : sur un achat sur plan, les mensualités courent pendant que le bien ne produit encore rien.</a:t>
            </a:r>
          </a:p>
          <a:p>
            <a:pPr algn="l">
              <a:lnSpc>
                <a:spcPct val="116000"/>
              </a:lnSpc>
              <a:spcBef>
                <a:spcPts val="400"/>
              </a:spcBef>
              <a:spcAft>
                <a:spcPts val="0"/>
              </a:spcAft>
            </a:pPr>
            <a:r>
              <a:rPr sz="900" b="0" i="1">
                <a:solidFill>
                  <a:srgbClr val="56657C"/>
                </a:solidFill>
                <a:latin typeface="Calibri"/>
              </a:rPr>
              <a:t>Photo Farid Mernissi, Wikimedia Commons, CC BY-SA 4.0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0C19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60704"/>
            <a:ext cx="12191695" cy="50292"/>
          </a:xfrm>
          <a:prstGeom prst="rect">
            <a:avLst/>
          </a:prstGeom>
          <a:solidFill>
            <a:srgbClr val="F9C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58368" y="274320"/>
            <a:ext cx="512064" cy="512064"/>
          </a:xfrm>
          <a:prstGeom prst="ellipse">
            <a:avLst/>
          </a:prstGeom>
          <a:noFill/>
          <a:ln w="13970">
            <a:solidFill>
              <a:srgbClr val="F9CC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9CC28"/>
                </a:solidFill>
                <a:latin typeface="Georgi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08176" y="219456"/>
            <a:ext cx="10125151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FFFFFF"/>
                </a:solidFill>
                <a:latin typeface="Georgia"/>
              </a:rPr>
              <a:t>Ce que la refonte a changé</a:t>
            </a:r>
          </a:p>
          <a:p>
            <a:pPr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</a:pPr>
            <a:r>
              <a:rPr sz="1150" b="0" i="0">
                <a:solidFill>
                  <a:srgbClr val="A9B8CC"/>
                </a:solidFill>
                <a:latin typeface="Calibri"/>
              </a:rPr>
              <a:t>Sept écarts relevés, sept corrections apportées en semaine 6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291072"/>
            <a:ext cx="10874959" cy="10972"/>
          </a:xfrm>
          <a:prstGeom prst="rect">
            <a:avLst/>
          </a:prstGeom>
          <a:solidFill>
            <a:srgbClr val="D9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82512"/>
            <a:ext cx="1032631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6657C"/>
                </a:solidFill>
                <a:latin typeface="Calibri"/>
              </a:rPr>
              <a:t>HOUNKPETOHOU Marius  ·  Soutenance de stage opérateur  ·  Choubel Consulting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84687" y="638251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5291"/>
                </a:solidFill>
                <a:latin typeface="Calibri"/>
              </a:rPr>
              <a:t>11 / 16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58368" y="1481328"/>
          <a:ext cx="10874958" cy="309067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445695"/>
                <a:gridCol w="3832977"/>
                <a:gridCol w="6596286"/>
              </a:tblGrid>
              <a:tr h="402336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marL="109728" marR="91440" marT="41148" marB="41148" anchor="ctr">
                    <a:solidFill>
                      <a:srgbClr val="0C193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Écart constaté</a:t>
                      </a:r>
                    </a:p>
                  </a:txBody>
                  <a:tcPr marL="109728" marR="91440" marT="41148" marB="41148" anchor="ctr">
                    <a:solidFill>
                      <a:srgbClr val="0C193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Correction apportée</a:t>
                      </a:r>
                    </a:p>
                  </a:txBody>
                  <a:tcPr marL="109728" marR="91440" marT="41148" marB="41148" anchor="ctr">
                    <a:solidFill>
                      <a:srgbClr val="0C1930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0C1930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109728" marR="91440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0C1930"/>
                          </a:solidFill>
                          <a:latin typeface="Calibri"/>
                        </a:rPr>
                        <a:t>TRI et VAN affichés en tête</a:t>
                      </a:r>
                    </a:p>
                  </a:txBody>
                  <a:tcPr marL="109728" marR="91440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0C1930"/>
                          </a:solidFill>
                          <a:latin typeface="Calibri"/>
                        </a:rPr>
                        <a:t>Rendement net et cash-flow remontés en première ligne, partout</a:t>
                      </a:r>
                    </a:p>
                  </a:txBody>
                  <a:tcPr marL="109728" marR="91440" marT="41148" marB="4114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0C1930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109728" marR="91440" marT="41148" marB="41148" anchor="ctr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0C1930"/>
                          </a:solidFill>
                          <a:latin typeface="Calibri"/>
                        </a:rPr>
                        <a:t>Un loyer supposé dans tous les cas</a:t>
                      </a:r>
                    </a:p>
                  </a:txBody>
                  <a:tcPr marL="109728" marR="91440" marT="41148" marB="41148" anchor="ctr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0C1930"/>
                          </a:solidFill>
                          <a:latin typeface="Calibri"/>
                        </a:rPr>
                        <a:t>Opération sans loyer traitée nativement : la valeur vient de la plus-value</a:t>
                      </a:r>
                    </a:p>
                  </a:txBody>
                  <a:tcPr marL="109728" marR="91440" marT="41148" marB="41148" anchor="ctr">
                    <a:solidFill>
                      <a:srgbClr val="F2F5F9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0C1930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109728" marR="91440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0C1930"/>
                          </a:solidFill>
                          <a:latin typeface="Calibri"/>
                        </a:rPr>
                        <a:t>Le facteur temps, paramètre secondaire</a:t>
                      </a:r>
                    </a:p>
                  </a:txBody>
                  <a:tcPr marL="109728" marR="91440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0C1930"/>
                          </a:solidFill>
                          <a:latin typeface="Calibri"/>
                        </a:rPr>
                        <a:t>Horizon et délai de livraison passés au premier plan</a:t>
                      </a:r>
                    </a:p>
                  </a:txBody>
                  <a:tcPr marL="109728" marR="91440" marT="41148" marB="4114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0C1930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109728" marR="91440" marT="41148" marB="41148" anchor="ctr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0C1930"/>
                          </a:solidFill>
                          <a:latin typeface="Calibri"/>
                        </a:rPr>
                        <a:t>Phase amont absente</a:t>
                      </a:r>
                    </a:p>
                  </a:txBody>
                  <a:tcPr marL="109728" marR="91440" marT="41148" marB="41148" anchor="ctr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0C1930"/>
                          </a:solidFill>
                          <a:latin typeface="Calibri"/>
                        </a:rPr>
                        <a:t>Ajout du brief de recherche au modèle de données</a:t>
                      </a:r>
                    </a:p>
                  </a:txBody>
                  <a:tcPr marL="109728" marR="91440" marT="41148" marB="41148" anchor="ctr">
                    <a:solidFill>
                      <a:srgbClr val="F2F5F9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0C1930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109728" marR="91440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0C1930"/>
                          </a:solidFill>
                          <a:latin typeface="Calibri"/>
                        </a:rPr>
                        <a:t>Fiche client incomplète</a:t>
                      </a:r>
                    </a:p>
                  </a:txBody>
                  <a:tcPr marL="109728" marR="91440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0C1930"/>
                          </a:solidFill>
                          <a:latin typeface="Calibri"/>
                        </a:rPr>
                        <a:t>Situation professionnelle, nationalité, budget disponible</a:t>
                      </a:r>
                    </a:p>
                  </a:txBody>
                  <a:tcPr marL="109728" marR="91440" marT="41148" marB="4114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0C1930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109728" marR="91440" marT="41148" marB="41148" anchor="ctr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0C1930"/>
                          </a:solidFill>
                          <a:latin typeface="Calibri"/>
                        </a:rPr>
                        <a:t>Déroulé du dossier non suivi</a:t>
                      </a:r>
                    </a:p>
                  </a:txBody>
                  <a:tcPr marL="109728" marR="91440" marT="41148" marB="41148" anchor="ctr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0C1930"/>
                          </a:solidFill>
                          <a:latin typeface="Calibri"/>
                        </a:rPr>
                        <a:t>Les six étapes du métier deviennent six statuts de dossier</a:t>
                      </a:r>
                    </a:p>
                  </a:txBody>
                  <a:tcPr marL="109728" marR="91440" marT="41148" marB="41148" anchor="ctr">
                    <a:solidFill>
                      <a:srgbClr val="F2F5F9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0C1930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L="109728" marR="91440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0C1930"/>
                          </a:solidFill>
                          <a:latin typeface="Calibri"/>
                        </a:rPr>
                        <a:t>VEFA traitée comme un bien louable</a:t>
                      </a:r>
                    </a:p>
                  </a:txBody>
                  <a:tcPr marL="109728" marR="91440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0C1930"/>
                          </a:solidFill>
                          <a:latin typeface="Calibri"/>
                        </a:rPr>
                        <a:t>Délai de livraison modélisé, et proratisé sur l'année</a:t>
                      </a:r>
                    </a:p>
                  </a:txBody>
                  <a:tcPr marL="109728" marR="91440" marT="41148" marB="4114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658368" y="4626864"/>
            <a:ext cx="10874959" cy="960120"/>
          </a:xfrm>
          <a:prstGeom prst="rect">
            <a:avLst/>
          </a:prstGeom>
          <a:solidFill>
            <a:srgbClr val="0C19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9264" y="4828032"/>
            <a:ext cx="10234879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Calibri"/>
              </a:rPr>
              <a:t>Et une suppression : </a:t>
            </a:r>
            <a:r>
              <a:rPr sz="1300" b="1" i="0">
                <a:solidFill>
                  <a:srgbClr val="F9CC28"/>
                </a:solidFill>
                <a:latin typeface="Calibri"/>
              </a:rPr>
              <a:t>le seuil de rentabilité universel</a:t>
            </a:r>
            <a:r>
              <a:rPr sz="1300" b="0" i="0">
                <a:solidFill>
                  <a:srgbClr val="FFFFFF"/>
                </a:solidFill>
                <a:latin typeface="Calibri"/>
              </a:rPr>
              <a:t>. Un montage n'est plus jugé dans l'absolu, mais relativement à l'objectif et à l'horizon que le client a déclarés.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0C19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60704"/>
            <a:ext cx="12191695" cy="50292"/>
          </a:xfrm>
          <a:prstGeom prst="rect">
            <a:avLst/>
          </a:prstGeom>
          <a:solidFill>
            <a:srgbClr val="F9C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58368" y="274320"/>
            <a:ext cx="512064" cy="512064"/>
          </a:xfrm>
          <a:prstGeom prst="ellipse">
            <a:avLst/>
          </a:prstGeom>
          <a:noFill/>
          <a:ln w="13970">
            <a:solidFill>
              <a:srgbClr val="F9CC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9CC28"/>
                </a:solidFill>
                <a:latin typeface="Georgia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08176" y="219456"/>
            <a:ext cx="10125151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FFFFFF"/>
                </a:solidFill>
                <a:latin typeface="Georgia"/>
              </a:rPr>
              <a:t>L'étude automatique</a:t>
            </a:r>
          </a:p>
          <a:p>
            <a:pPr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</a:pPr>
            <a:r>
              <a:rPr sz="1150" b="0" i="0">
                <a:solidFill>
                  <a:srgbClr val="A9B8CC"/>
                </a:solidFill>
                <a:latin typeface="Calibri"/>
              </a:rPr>
              <a:t>La dernière fonctionnalité livrée — et celle dont je suis le plus satisfait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291072"/>
            <a:ext cx="10874959" cy="10972"/>
          </a:xfrm>
          <a:prstGeom prst="rect">
            <a:avLst/>
          </a:prstGeom>
          <a:solidFill>
            <a:srgbClr val="D9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82512"/>
            <a:ext cx="1032631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6657C"/>
                </a:solidFill>
                <a:latin typeface="Calibri"/>
              </a:rPr>
              <a:t>HOUNKPETOHOU Marius  ·  Soutenance de stage opérateur  ·  Choubel Consulting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84687" y="638251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5291"/>
                </a:solidFill>
                <a:latin typeface="Calibri"/>
              </a:rPr>
              <a:t>12 / 16</a:t>
            </a:r>
          </a:p>
        </p:txBody>
      </p:sp>
      <p:sp>
        <p:nvSpPr>
          <p:cNvPr id="9" name="Pentagon 8"/>
          <p:cNvSpPr/>
          <p:nvPr/>
        </p:nvSpPr>
        <p:spPr>
          <a:xfrm>
            <a:off x="658368" y="1481328"/>
            <a:ext cx="2650159" cy="640080"/>
          </a:xfrm>
          <a:prstGeom prst="homePlate">
            <a:avLst/>
          </a:prstGeom>
          <a:solidFill>
            <a:srgbClr val="F2F5F9"/>
          </a:solidFill>
          <a:ln w="9525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28016" rIns="4572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0BCAA"/>
                </a:solidFill>
                <a:latin typeface="Calibri"/>
              </a:rPr>
              <a:t>1</a:t>
            </a:r>
          </a:p>
          <a:p>
            <a:pPr algn="ctr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</a:pPr>
            <a:r>
              <a:rPr sz="1000" b="0" i="0">
                <a:solidFill>
                  <a:srgbClr val="0C1930"/>
                </a:solidFill>
                <a:latin typeface="Calibri"/>
              </a:rPr>
              <a:t>Le bien et le client</a:t>
            </a:r>
          </a:p>
        </p:txBody>
      </p:sp>
      <p:sp>
        <p:nvSpPr>
          <p:cNvPr id="10" name="Chevron 9"/>
          <p:cNvSpPr/>
          <p:nvPr/>
        </p:nvSpPr>
        <p:spPr>
          <a:xfrm>
            <a:off x="3399967" y="1481328"/>
            <a:ext cx="2650159" cy="640080"/>
          </a:xfrm>
          <a:prstGeom prst="chevron">
            <a:avLst/>
          </a:prstGeom>
          <a:solidFill>
            <a:srgbClr val="F2F5F9"/>
          </a:solidFill>
          <a:ln w="9525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28016" rIns="4572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0BCAA"/>
                </a:solidFill>
                <a:latin typeface="Calibri"/>
              </a:rPr>
              <a:t>2</a:t>
            </a:r>
          </a:p>
          <a:p>
            <a:pPr algn="ctr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</a:pPr>
            <a:r>
              <a:rPr sz="1000" b="0" i="0">
                <a:solidFill>
                  <a:srgbClr val="0C1930"/>
                </a:solidFill>
                <a:latin typeface="Calibri"/>
              </a:rPr>
              <a:t>Sept montages construits</a:t>
            </a:r>
          </a:p>
        </p:txBody>
      </p:sp>
      <p:sp>
        <p:nvSpPr>
          <p:cNvPr id="11" name="Chevron 10"/>
          <p:cNvSpPr/>
          <p:nvPr/>
        </p:nvSpPr>
        <p:spPr>
          <a:xfrm>
            <a:off x="6141567" y="1481328"/>
            <a:ext cx="2650159" cy="640080"/>
          </a:xfrm>
          <a:prstGeom prst="chevron">
            <a:avLst/>
          </a:prstGeom>
          <a:solidFill>
            <a:srgbClr val="F2F5F9"/>
          </a:solidFill>
          <a:ln w="9525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28016" rIns="4572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0BCAA"/>
                </a:solidFill>
                <a:latin typeface="Calibri"/>
              </a:rPr>
              <a:t>3</a:t>
            </a:r>
          </a:p>
          <a:p>
            <a:pPr algn="ctr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</a:pPr>
            <a:r>
              <a:rPr sz="1000" b="0" i="0">
                <a:solidFill>
                  <a:srgbClr val="0C1930"/>
                </a:solidFill>
                <a:latin typeface="Calibri"/>
              </a:rPr>
              <a:t>Confrontés sur quatre critères</a:t>
            </a:r>
          </a:p>
        </p:txBody>
      </p:sp>
      <p:sp>
        <p:nvSpPr>
          <p:cNvPr id="12" name="Chevron 11"/>
          <p:cNvSpPr/>
          <p:nvPr/>
        </p:nvSpPr>
        <p:spPr>
          <a:xfrm>
            <a:off x="8883167" y="1481328"/>
            <a:ext cx="2650159" cy="640080"/>
          </a:xfrm>
          <a:prstGeom prst="chevron">
            <a:avLst/>
          </a:prstGeom>
          <a:solidFill>
            <a:srgbClr val="0052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28016" rIns="4572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4</a:t>
            </a:r>
          </a:p>
          <a:p>
            <a:pPr algn="ctr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Calibri"/>
              </a:rPr>
              <a:t>Un montage proposé, et expliqué</a:t>
            </a:r>
          </a:p>
        </p:txBody>
      </p:sp>
      <p:pic>
        <p:nvPicPr>
          <p:cNvPr id="13" name="Picture 12" descr="app_etu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379239"/>
            <a:ext cx="5254599" cy="2154385"/>
          </a:xfrm>
          <a:prstGeom prst="rect">
            <a:avLst/>
          </a:prstGeom>
          <a:ln w="9525">
            <a:solidFill>
              <a:srgbClr val="D9E0EA"/>
            </a:solidFill>
          </a:ln>
        </p:spPr>
      </p:pic>
      <p:sp>
        <p:nvSpPr>
          <p:cNvPr id="14" name="Rectangle 13"/>
          <p:cNvSpPr/>
          <p:nvPr/>
        </p:nvSpPr>
        <p:spPr>
          <a:xfrm>
            <a:off x="6278727" y="2377440"/>
            <a:ext cx="5254599" cy="2157984"/>
          </a:xfrm>
          <a:prstGeom prst="rect">
            <a:avLst/>
          </a:prstGeom>
          <a:solidFill>
            <a:srgbClr val="F2F5F9"/>
          </a:solidFill>
          <a:ln w="9525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78727" y="2377440"/>
            <a:ext cx="50292" cy="2157984"/>
          </a:xfrm>
          <a:prstGeom prst="rect">
            <a:avLst/>
          </a:prstGeom>
          <a:solidFill>
            <a:srgbClr val="00BC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71335" y="2578608"/>
            <a:ext cx="4687671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005291"/>
                </a:solidFill>
                <a:latin typeface="Calibri"/>
              </a:rPr>
              <a:t>P R O P O S E R   S A N S   R É I N T R O D U I R E   U N   S E U I L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1" i="0">
                <a:solidFill>
                  <a:srgbClr val="00BCAA"/>
                </a:solidFill>
                <a:latin typeface="Calibri"/>
              </a:rPr>
              <a:t>▪  </a:t>
            </a:r>
            <a:r>
              <a:rPr sz="1050" b="1" i="0">
                <a:solidFill>
                  <a:srgbClr val="0C1930"/>
                </a:solidFill>
                <a:latin typeface="Calibri"/>
              </a:rPr>
              <a:t>Classement relatif </a:t>
            </a:r>
            <a:r>
              <a:rPr sz="1050" b="0" i="0">
                <a:solidFill>
                  <a:srgbClr val="0C1930"/>
                </a:solidFill>
                <a:latin typeface="Calibri"/>
              </a:rPr>
              <a:t>— ramené entre le meilleur et le moins bon montage de cette étude, pour ce bien et cet horizon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1" i="0">
                <a:solidFill>
                  <a:srgbClr val="00BCAA"/>
                </a:solidFill>
                <a:latin typeface="Calibri"/>
              </a:rPr>
              <a:t>▪  </a:t>
            </a:r>
            <a:r>
              <a:rPr sz="1050" b="1" i="0">
                <a:solidFill>
                  <a:srgbClr val="0C1930"/>
                </a:solidFill>
                <a:latin typeface="Calibri"/>
              </a:rPr>
              <a:t>Pondérations affichées </a:t>
            </a:r>
            <a:r>
              <a:rPr sz="1050" b="0" i="0">
                <a:solidFill>
                  <a:srgbClr val="0C1930"/>
                </a:solidFill>
                <a:latin typeface="Calibri"/>
              </a:rPr>
              <a:t>— le conseiller voit sur quoi l'outil a tranché, et peut le contester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1" i="0">
                <a:solidFill>
                  <a:srgbClr val="00BCAA"/>
                </a:solidFill>
                <a:latin typeface="Calibri"/>
              </a:rPr>
              <a:t>▪  </a:t>
            </a:r>
            <a:r>
              <a:rPr sz="1050" b="1" i="0">
                <a:solidFill>
                  <a:srgbClr val="0C1930"/>
                </a:solidFill>
                <a:latin typeface="Calibri"/>
              </a:rPr>
              <a:t>Ce que les autres font mieux </a:t>
            </a:r>
            <a:r>
              <a:rPr sz="1050" b="0" i="0">
                <a:solidFill>
                  <a:srgbClr val="0C1930"/>
                </a:solidFill>
                <a:latin typeface="Calibri"/>
              </a:rPr>
              <a:t>— nommer ce que l'on perd, sinon c'est de la vente et non du conseil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1" i="0">
                <a:solidFill>
                  <a:srgbClr val="00BCAA"/>
                </a:solidFill>
                <a:latin typeface="Calibri"/>
              </a:rPr>
              <a:t>▪  </a:t>
            </a:r>
            <a:r>
              <a:rPr sz="1050" b="1" i="0">
                <a:solidFill>
                  <a:srgbClr val="0C1930"/>
                </a:solidFill>
                <a:latin typeface="Calibri"/>
              </a:rPr>
              <a:t>Composition complète </a:t>
            </a:r>
            <a:r>
              <a:rPr sz="1050" b="0" i="0">
                <a:solidFill>
                  <a:srgbClr val="0C1930"/>
                </a:solidFill>
                <a:latin typeface="Calibri"/>
              </a:rPr>
              <a:t>— chaque valeur avec son origine : dossier, brief, zone de marché, calcul ou hypothèse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" y="4718304"/>
            <a:ext cx="5254599" cy="1097280"/>
          </a:xfrm>
          <a:prstGeom prst="rect">
            <a:avLst/>
          </a:prstGeom>
          <a:solidFill>
            <a:srgbClr val="0C19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50976" y="4901184"/>
            <a:ext cx="4687671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FFFFFF"/>
                </a:solidFill>
                <a:latin typeface="Calibri"/>
              </a:rPr>
              <a:t>Le conseiller saisissait </a:t>
            </a:r>
            <a:r>
              <a:rPr sz="1150" b="1" i="0">
                <a:solidFill>
                  <a:srgbClr val="F9CC28"/>
                </a:solidFill>
                <a:latin typeface="Calibri"/>
              </a:rPr>
              <a:t>onze valeurs</a:t>
            </a:r>
            <a:r>
              <a:rPr sz="1150" b="0" i="0">
                <a:solidFill>
                  <a:srgbClr val="FFFFFF"/>
                </a:solidFill>
                <a:latin typeface="Calibri"/>
              </a:rPr>
              <a:t> pour découvrir que le montage ne convenait pas, puis recommençait : l'outil lui demandait de deviner la réponse avant de la calculer.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78727" y="4718304"/>
            <a:ext cx="5254599" cy="1097280"/>
          </a:xfrm>
          <a:prstGeom prst="rect">
            <a:avLst/>
          </a:prstGeom>
          <a:solidFill>
            <a:srgbClr val="F2F5F9"/>
          </a:solidFill>
          <a:ln w="9525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78727" y="4718304"/>
            <a:ext cx="50292" cy="1097280"/>
          </a:xfrm>
          <a:prstGeom prst="rect">
            <a:avLst/>
          </a:prstGeom>
          <a:solidFill>
            <a:srgbClr val="0052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71335" y="4901184"/>
            <a:ext cx="4687671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C1930"/>
                </a:solidFill>
                <a:latin typeface="Calibri"/>
              </a:rPr>
              <a:t>À bien et budget identiques</a:t>
            </a:r>
            <a:r>
              <a:rPr sz="1150" b="0" i="0">
                <a:solidFill>
                  <a:srgbClr val="0C1930"/>
                </a:solidFill>
                <a:latin typeface="Calibri"/>
              </a:rPr>
              <a:t>, l'outil propose </a:t>
            </a:r>
            <a:r>
              <a:rPr sz="1150" b="1" i="0">
                <a:solidFill>
                  <a:srgbClr val="005291"/>
                </a:solidFill>
                <a:latin typeface="Calibri"/>
              </a:rPr>
              <a:t>vingt-cinq ans</a:t>
            </a:r>
            <a:r>
              <a:rPr sz="1150" b="0" i="0">
                <a:solidFill>
                  <a:srgbClr val="0C1930"/>
                </a:solidFill>
                <a:latin typeface="Calibri"/>
              </a:rPr>
              <a:t> au client qui cherche du revenu, et </a:t>
            </a:r>
            <a:r>
              <a:rPr sz="1150" b="1" i="0">
                <a:solidFill>
                  <a:srgbClr val="005291"/>
                </a:solidFill>
                <a:latin typeface="Calibri"/>
              </a:rPr>
              <a:t>quinze ans</a:t>
            </a:r>
            <a:r>
              <a:rPr sz="1150" b="0" i="0">
                <a:solidFill>
                  <a:srgbClr val="0C1930"/>
                </a:solidFill>
                <a:latin typeface="Calibri"/>
              </a:rPr>
              <a:t> à celui qui vise la plus-value. Un test le vérifie.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0C19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60704"/>
            <a:ext cx="12191695" cy="50292"/>
          </a:xfrm>
          <a:prstGeom prst="rect">
            <a:avLst/>
          </a:prstGeom>
          <a:solidFill>
            <a:srgbClr val="F9C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58368" y="274320"/>
            <a:ext cx="512064" cy="512064"/>
          </a:xfrm>
          <a:prstGeom prst="ellipse">
            <a:avLst/>
          </a:prstGeom>
          <a:noFill/>
          <a:ln w="13970">
            <a:solidFill>
              <a:srgbClr val="F9CC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9CC28"/>
                </a:solidFill>
                <a:latin typeface="Georgia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08176" y="219456"/>
            <a:ext cx="10125151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FFFFFF"/>
                </a:solidFill>
                <a:latin typeface="Georgia"/>
              </a:rPr>
              <a:t>Tests, validation et passation</a:t>
            </a:r>
          </a:p>
          <a:p>
            <a:pPr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</a:pPr>
            <a:r>
              <a:rPr sz="1150" b="0" i="0">
                <a:solidFill>
                  <a:srgbClr val="A9B8CC"/>
                </a:solidFill>
                <a:latin typeface="Calibri"/>
              </a:rPr>
              <a:t>Rendre le travail vérifiable, puis utilisable sans moi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291072"/>
            <a:ext cx="10874959" cy="10972"/>
          </a:xfrm>
          <a:prstGeom prst="rect">
            <a:avLst/>
          </a:prstGeom>
          <a:solidFill>
            <a:srgbClr val="D9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82512"/>
            <a:ext cx="1032631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6657C"/>
                </a:solidFill>
                <a:latin typeface="Calibri"/>
              </a:rPr>
              <a:t>HOUNKPETOHOU Marius  ·  Soutenance de stage opérateur  ·  Choubel Consulting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84687" y="638251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5291"/>
                </a:solidFill>
                <a:latin typeface="Calibri"/>
              </a:rPr>
              <a:t>13 / 16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481328"/>
            <a:ext cx="5254599" cy="3246120"/>
          </a:xfrm>
          <a:prstGeom prst="rect">
            <a:avLst/>
          </a:prstGeom>
          <a:solidFill>
            <a:srgbClr val="F2F5F9"/>
          </a:solidFill>
          <a:ln w="9525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481328"/>
            <a:ext cx="50292" cy="3246120"/>
          </a:xfrm>
          <a:prstGeom prst="rect">
            <a:avLst/>
          </a:prstGeom>
          <a:solidFill>
            <a:srgbClr val="0052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9264" y="1719072"/>
            <a:ext cx="4651095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005291"/>
                </a:solidFill>
                <a:latin typeface="Calibri"/>
              </a:rPr>
              <a:t>C O M M E N T   C ' E S T   V A L I D É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1" i="0">
                <a:solidFill>
                  <a:srgbClr val="00BCAA"/>
                </a:solidFill>
                <a:latin typeface="Calibri"/>
              </a:rPr>
              <a:t>▪  </a:t>
            </a:r>
            <a:r>
              <a:rPr sz="1200" b="1" i="0">
                <a:solidFill>
                  <a:srgbClr val="0C1930"/>
                </a:solidFill>
                <a:latin typeface="Calibri"/>
              </a:rPr>
              <a:t>96 tests automatisés </a:t>
            </a:r>
            <a:r>
              <a:rPr sz="1200" b="0" i="0">
                <a:solidFill>
                  <a:srgbClr val="0C1930"/>
                </a:solidFill>
                <a:latin typeface="Calibri"/>
              </a:rPr>
              <a:t>— quatre niveaux : moteur, parcours complet, cas réels, règles métier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1" i="0">
                <a:solidFill>
                  <a:srgbClr val="00BCAA"/>
                </a:solidFill>
                <a:latin typeface="Calibri"/>
              </a:rPr>
              <a:t>▪  </a:t>
            </a:r>
            <a:r>
              <a:rPr sz="1200" b="1" i="0">
                <a:solidFill>
                  <a:srgbClr val="0C1930"/>
                </a:solidFill>
                <a:latin typeface="Calibri"/>
              </a:rPr>
              <a:t>Valeurs de référence externes </a:t>
            </a:r>
            <a:r>
              <a:rPr sz="1200" b="0" i="0">
                <a:solidFill>
                  <a:srgbClr val="0C1930"/>
                </a:solidFill>
                <a:latin typeface="Calibri"/>
              </a:rPr>
              <a:t>— une mensualité vérifiée au centime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1" i="0">
                <a:solidFill>
                  <a:srgbClr val="00BCAA"/>
                </a:solidFill>
                <a:latin typeface="Calibri"/>
              </a:rPr>
              <a:t>▪  </a:t>
            </a:r>
            <a:r>
              <a:rPr sz="1200" b="1" i="0">
                <a:solidFill>
                  <a:srgbClr val="0C1930"/>
                </a:solidFill>
                <a:latin typeface="Calibri"/>
              </a:rPr>
              <a:t>Les deux dossiers du tuteur </a:t>
            </a:r>
            <a:r>
              <a:rPr sz="1200" b="0" i="0">
                <a:solidFill>
                  <a:srgbClr val="0C1930"/>
                </a:solidFill>
                <a:latin typeface="Calibri"/>
              </a:rPr>
              <a:t>— devenus des tests : 15 M et 5 M de valeur créée, recalculables à la main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1" i="0">
                <a:solidFill>
                  <a:srgbClr val="00BCAA"/>
                </a:solidFill>
                <a:latin typeface="Calibri"/>
              </a:rPr>
              <a:t>▪  </a:t>
            </a:r>
            <a:r>
              <a:rPr sz="1200" b="1" i="0">
                <a:solidFill>
                  <a:srgbClr val="0C1930"/>
                </a:solidFill>
                <a:latin typeface="Calibri"/>
              </a:rPr>
              <a:t>Deux tests-verdict </a:t>
            </a:r>
            <a:r>
              <a:rPr sz="1200" b="0" i="0">
                <a:solidFill>
                  <a:srgbClr val="0C1930"/>
                </a:solidFill>
                <a:latin typeface="Calibri"/>
              </a:rPr>
              <a:t>— le classement s'inverse avec l'horizon, et l'objectif du client change le montage proposé : la position du cabinet est inscrite dans le code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78727" y="1481328"/>
            <a:ext cx="5254599" cy="3246120"/>
          </a:xfrm>
          <a:prstGeom prst="rect">
            <a:avLst/>
          </a:prstGeom>
          <a:solidFill>
            <a:srgbClr val="F2F5F9"/>
          </a:solidFill>
          <a:ln w="9525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78727" y="1481328"/>
            <a:ext cx="50292" cy="3246120"/>
          </a:xfrm>
          <a:prstGeom prst="rect">
            <a:avLst/>
          </a:prstGeom>
          <a:solidFill>
            <a:srgbClr val="00BC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9623" y="1719072"/>
            <a:ext cx="4651095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005291"/>
                </a:solidFill>
                <a:latin typeface="Calibri"/>
              </a:rPr>
              <a:t>C O M M E N T   C ' E S T   T R A N S M I S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1" i="0">
                <a:solidFill>
                  <a:srgbClr val="00BCAA"/>
                </a:solidFill>
                <a:latin typeface="Calibri"/>
              </a:rPr>
              <a:t>▪  </a:t>
            </a:r>
            <a:r>
              <a:rPr sz="1200" b="1" i="0">
                <a:solidFill>
                  <a:srgbClr val="0C1930"/>
                </a:solidFill>
                <a:latin typeface="Calibri"/>
              </a:rPr>
              <a:t>Application déployée en ligne </a:t>
            </a:r>
            <a:r>
              <a:rPr sz="1200" b="0" i="0">
                <a:solidFill>
                  <a:srgbClr val="0C1930"/>
                </a:solidFill>
                <a:latin typeface="Calibri"/>
              </a:rPr>
              <a:t>— accessible sans installation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1" i="0">
                <a:solidFill>
                  <a:srgbClr val="00BCAA"/>
                </a:solidFill>
                <a:latin typeface="Calibri"/>
              </a:rPr>
              <a:t>▪  </a:t>
            </a:r>
            <a:r>
              <a:rPr sz="1200" b="1" i="0">
                <a:solidFill>
                  <a:srgbClr val="0C1930"/>
                </a:solidFill>
                <a:latin typeface="Calibri"/>
              </a:rPr>
              <a:t>Jeu de démonstration </a:t>
            </a:r>
            <a:r>
              <a:rPr sz="1200" b="0" i="0">
                <a:solidFill>
                  <a:srgbClr val="0C1930"/>
                </a:solidFill>
                <a:latin typeface="Calibri"/>
              </a:rPr>
              <a:t>— rejouable en une commande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1" i="0">
                <a:solidFill>
                  <a:srgbClr val="00BCAA"/>
                </a:solidFill>
                <a:latin typeface="Calibri"/>
              </a:rPr>
              <a:t>▪  </a:t>
            </a:r>
            <a:r>
              <a:rPr sz="1200" b="1" i="0">
                <a:solidFill>
                  <a:srgbClr val="0C1930"/>
                </a:solidFill>
                <a:latin typeface="Calibri"/>
              </a:rPr>
              <a:t>Guide d'utilisation </a:t>
            </a:r>
            <a:r>
              <a:rPr sz="1200" b="0" i="0">
                <a:solidFill>
                  <a:srgbClr val="0C1930"/>
                </a:solidFill>
                <a:latin typeface="Calibri"/>
              </a:rPr>
              <a:t>— rédigé dans l'ordre d'un rendez-vous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1" i="0">
                <a:solidFill>
                  <a:srgbClr val="00BCAA"/>
                </a:solidFill>
                <a:latin typeface="Calibri"/>
              </a:rPr>
              <a:t>▪  </a:t>
            </a:r>
            <a:r>
              <a:rPr sz="1200" b="1" i="0">
                <a:solidFill>
                  <a:srgbClr val="0C1930"/>
                </a:solidFill>
                <a:latin typeface="Calibri"/>
              </a:rPr>
              <a:t>Script de démonstration </a:t>
            </a:r>
            <a:r>
              <a:rPr sz="1200" b="0" i="0">
                <a:solidFill>
                  <a:srgbClr val="0C1930"/>
                </a:solidFill>
                <a:latin typeface="Calibri"/>
              </a:rPr>
              <a:t>— déroulé minuté de dix minutes</a:t>
            </a:r>
          </a:p>
          <a:p>
            <a:pPr algn="l">
              <a:lnSpc>
                <a:spcPct val="116000"/>
              </a:lnSpc>
              <a:spcBef>
                <a:spcPts val="600"/>
              </a:spcBef>
              <a:spcAft>
                <a:spcPts val="0"/>
              </a:spcAft>
            </a:pPr>
            <a:r>
              <a:rPr sz="1000" b="1" i="0">
                <a:solidFill>
                  <a:srgbClr val="B00020"/>
                </a:solidFill>
                <a:latin typeface="Calibri"/>
              </a:rPr>
              <a:t>[à compléter : retour des utilisateurs après prise en main]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4937760"/>
            <a:ext cx="10874959" cy="841248"/>
          </a:xfrm>
          <a:prstGeom prst="rect">
            <a:avLst/>
          </a:prstGeom>
          <a:solidFill>
            <a:srgbClr val="F2F5F9"/>
          </a:solidFill>
          <a:ln w="9525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8368" y="4937760"/>
            <a:ext cx="50292" cy="841248"/>
          </a:xfrm>
          <a:prstGeom prst="rect">
            <a:avLst/>
          </a:prstGeom>
          <a:solidFill>
            <a:srgbClr val="B00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9264" y="5120640"/>
            <a:ext cx="1023487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0C1930"/>
                </a:solidFill>
                <a:latin typeface="Calibri"/>
              </a:rPr>
              <a:t>Un test a échoué parce que </a:t>
            </a:r>
            <a:r>
              <a:rPr sz="1250" b="1" i="1">
                <a:solidFill>
                  <a:srgbClr val="0C1930"/>
                </a:solidFill>
                <a:latin typeface="Calibri"/>
              </a:rPr>
              <a:t>ma</a:t>
            </a:r>
            <a:r>
              <a:rPr sz="1250" b="0" i="0">
                <a:solidFill>
                  <a:srgbClr val="0C1930"/>
                </a:solidFill>
                <a:latin typeface="Calibri"/>
              </a:rPr>
              <a:t> valeur de référence était fausse — le programme, lui, avait raison. Le dispositif protège dans les deux sens.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0C19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60704"/>
            <a:ext cx="12191695" cy="50292"/>
          </a:xfrm>
          <a:prstGeom prst="rect">
            <a:avLst/>
          </a:prstGeom>
          <a:solidFill>
            <a:srgbClr val="F9C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58368" y="274320"/>
            <a:ext cx="512064" cy="512064"/>
          </a:xfrm>
          <a:prstGeom prst="ellipse">
            <a:avLst/>
          </a:prstGeom>
          <a:noFill/>
          <a:ln w="13970">
            <a:solidFill>
              <a:srgbClr val="F9CC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9CC28"/>
                </a:solidFill>
                <a:latin typeface="Georgia"/>
              </a:rP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08176" y="219456"/>
            <a:ext cx="10125151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FFFFFF"/>
                </a:solidFill>
                <a:latin typeface="Georgia"/>
              </a:rPr>
              <a:t>Conclusion et perspectives</a:t>
            </a:r>
          </a:p>
          <a:p>
            <a:pPr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</a:pPr>
            <a:r>
              <a:rPr sz="1150" b="0" i="0">
                <a:solidFill>
                  <a:srgbClr val="A9B8CC"/>
                </a:solidFill>
                <a:latin typeface="Calibri"/>
              </a:rPr>
              <a:t>Un outil qui propose un montage — et documente la décision au lieu de la remplacer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291072"/>
            <a:ext cx="10874959" cy="10972"/>
          </a:xfrm>
          <a:prstGeom prst="rect">
            <a:avLst/>
          </a:prstGeom>
          <a:solidFill>
            <a:srgbClr val="D9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82512"/>
            <a:ext cx="1032631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6657C"/>
                </a:solidFill>
                <a:latin typeface="Calibri"/>
              </a:rPr>
              <a:t>HOUNKPETOHOU Marius  ·  Soutenance de stage opérateur  ·  Choubel Consulting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84687" y="638251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5291"/>
                </a:solidFill>
                <a:latin typeface="Calibri"/>
              </a:rPr>
              <a:t>14 / 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481328"/>
            <a:ext cx="5943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005291"/>
                </a:solidFill>
                <a:latin typeface="Calibri"/>
              </a:rPr>
              <a:t>C E   Q U I   E S T   L I V R 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1865376"/>
            <a:ext cx="59436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1" i="0">
                <a:solidFill>
                  <a:srgbClr val="00BCAA"/>
                </a:solidFill>
                <a:latin typeface="Calibri"/>
              </a:rPr>
              <a:t>▪  </a:t>
            </a:r>
            <a:r>
              <a:rPr sz="1300" b="0" i="0">
                <a:solidFill>
                  <a:srgbClr val="0C1930"/>
                </a:solidFill>
                <a:latin typeface="Calibri"/>
              </a:rPr>
              <a:t>Le parcours complet, de la fiche client au document remis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1" i="0">
                <a:solidFill>
                  <a:srgbClr val="00BCAA"/>
                </a:solidFill>
                <a:latin typeface="Calibri"/>
              </a:rPr>
              <a:t>▪  </a:t>
            </a:r>
            <a:r>
              <a:rPr sz="1300" b="0" i="0">
                <a:solidFill>
                  <a:srgbClr val="0C1930"/>
                </a:solidFill>
                <a:latin typeface="Calibri"/>
              </a:rPr>
              <a:t>Les trois familles d'opérations, avec ou sans loyer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1" i="0">
                <a:solidFill>
                  <a:srgbClr val="00BCAA"/>
                </a:solidFill>
                <a:latin typeface="Calibri"/>
              </a:rPr>
              <a:t>▪  </a:t>
            </a:r>
            <a:r>
              <a:rPr sz="1300" b="0" i="0">
                <a:solidFill>
                  <a:srgbClr val="0C1930"/>
                </a:solidFill>
                <a:latin typeface="Calibri"/>
              </a:rPr>
              <a:t>Le facteur temps au cœur du calcul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1" i="0">
                <a:solidFill>
                  <a:srgbClr val="00BCAA"/>
                </a:solidFill>
                <a:latin typeface="Calibri"/>
              </a:rPr>
              <a:t>▪  </a:t>
            </a:r>
            <a:r>
              <a:rPr sz="1300" b="0" i="0">
                <a:solidFill>
                  <a:srgbClr val="0C1930"/>
                </a:solidFill>
                <a:latin typeface="Calibri"/>
              </a:rPr>
              <a:t>L'étude automatique : les montages construits et confrontés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1" i="0">
                <a:solidFill>
                  <a:srgbClr val="00BCAA"/>
                </a:solidFill>
                <a:latin typeface="Calibri"/>
              </a:rPr>
              <a:t>▪  </a:t>
            </a:r>
            <a:r>
              <a:rPr sz="1300" b="0" i="0">
                <a:solidFill>
                  <a:srgbClr val="0C1930"/>
                </a:solidFill>
                <a:latin typeface="Calibri"/>
              </a:rPr>
              <a:t>Documentation, tests, déploiement, application en ligne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3529584"/>
            <a:ext cx="5943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56657C"/>
                </a:solidFill>
                <a:latin typeface="Calibri"/>
              </a:rPr>
              <a:t>C E   Q U I   R E S T E   O U V E R 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3913632"/>
            <a:ext cx="59436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1" i="0">
                <a:solidFill>
                  <a:srgbClr val="56657C"/>
                </a:solidFill>
                <a:latin typeface="Calibri"/>
              </a:rPr>
              <a:t>▪  </a:t>
            </a:r>
            <a:r>
              <a:rPr sz="1300" b="0" i="0">
                <a:solidFill>
                  <a:srgbClr val="0C1930"/>
                </a:solidFill>
                <a:latin typeface="Calibri"/>
              </a:rPr>
              <a:t>Échéancier VEFA par tranches (appels de fonds)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1" i="0">
                <a:solidFill>
                  <a:srgbClr val="56657C"/>
                </a:solidFill>
                <a:latin typeface="Calibri"/>
              </a:rPr>
              <a:t>▪  </a:t>
            </a:r>
            <a:r>
              <a:rPr sz="1300" b="0" i="0">
                <a:solidFill>
                  <a:srgbClr val="0C1930"/>
                </a:solidFill>
                <a:latin typeface="Calibri"/>
              </a:rPr>
              <a:t>Calcul de la capacité d'emprunt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1" i="0">
                <a:solidFill>
                  <a:srgbClr val="56657C"/>
                </a:solidFill>
                <a:latin typeface="Calibri"/>
              </a:rPr>
              <a:t>▪  </a:t>
            </a:r>
            <a:r>
              <a:rPr sz="1300" b="0" i="0">
                <a:solidFill>
                  <a:srgbClr val="0C1930"/>
                </a:solidFill>
                <a:latin typeface="Calibri"/>
              </a:rPr>
              <a:t>Rapprochement entre le brief et un portefeuille de biens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1" i="0">
                <a:solidFill>
                  <a:srgbClr val="56657C"/>
                </a:solidFill>
                <a:latin typeface="Calibri"/>
              </a:rPr>
              <a:t>▪  </a:t>
            </a:r>
            <a:r>
              <a:rPr sz="1300" b="0" i="0">
                <a:solidFill>
                  <a:srgbClr val="0C1930"/>
                </a:solidFill>
                <a:latin typeface="Calibri"/>
              </a:rPr>
              <a:t>Validation des taux par défaut par le cabinet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967728" y="1481328"/>
            <a:ext cx="4565599" cy="2514600"/>
          </a:xfrm>
          <a:prstGeom prst="rect">
            <a:avLst/>
          </a:prstGeom>
          <a:solidFill>
            <a:srgbClr val="E6F7F5"/>
          </a:solidFill>
          <a:ln w="9525">
            <a:solidFill>
              <a:srgbClr val="00BC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96912" y="1773936"/>
            <a:ext cx="3907231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6657C"/>
                </a:solidFill>
                <a:latin typeface="Calibri"/>
              </a:rPr>
              <a:t>Le déplacement le plus solide du stage n'est pas technique :</a:t>
            </a:r>
          </a:p>
          <a:p>
            <a:pPr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</a:pPr>
            <a:r>
              <a:rPr sz="1600" b="1" i="0">
                <a:solidFill>
                  <a:srgbClr val="0C1930"/>
                </a:solidFill>
                <a:latin typeface="Georgia"/>
              </a:rPr>
              <a:t>d'un outil qui décide</a:t>
            </a:r>
          </a:p>
          <a:p>
            <a:pPr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</a:pPr>
            <a:r>
              <a:rPr sz="1600" b="1" i="0">
                <a:solidFill>
                  <a:srgbClr val="005291"/>
                </a:solidFill>
                <a:latin typeface="Georgia"/>
              </a:rPr>
              <a:t>→  vers un outil qui documente une décision.</a:t>
            </a:r>
          </a:p>
          <a:p>
            <a:pPr algn="l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</a:pPr>
            <a:r>
              <a:rPr sz="1150" b="0" i="1">
                <a:solidFill>
                  <a:srgbClr val="56657C"/>
                </a:solidFill>
                <a:latin typeface="Calibri"/>
              </a:rPr>
              <a:t>Il propose — mais il montre la règle qui l'a fait choisir.</a:t>
            </a:r>
          </a:p>
          <a:p>
            <a:pPr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</a:pPr>
            <a:r>
              <a:rPr sz="1150" b="0" i="0">
                <a:solidFill>
                  <a:srgbClr val="56657C"/>
                </a:solidFill>
                <a:latin typeface="Calibri"/>
              </a:rPr>
              <a:t>Il ne vient pas d'une compétence, mais d'avoir posé des questions à quelqu'un qui exerce le métier.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67728" y="4224528"/>
            <a:ext cx="1430426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05291"/>
                </a:solidFill>
                <a:latin typeface="Georgia"/>
              </a:rPr>
              <a:t>96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67728" y="4681728"/>
            <a:ext cx="143042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6657C"/>
                </a:solidFill>
                <a:latin typeface="Calibri"/>
              </a:rPr>
              <a:t>tests au vert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89594" y="4224528"/>
            <a:ext cx="1430426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05291"/>
                </a:solidFill>
                <a:latin typeface="Georgia"/>
              </a:rPr>
              <a:t>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89594" y="4681728"/>
            <a:ext cx="143042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6657C"/>
                </a:solidFill>
                <a:latin typeface="Calibri"/>
              </a:rPr>
              <a:t>étapes suivies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11460" y="4224528"/>
            <a:ext cx="1430426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05291"/>
                </a:solidFill>
                <a:latin typeface="Georgia"/>
              </a:rPr>
              <a:t>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11460" y="4681728"/>
            <a:ext cx="143042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6657C"/>
                </a:solidFill>
                <a:latin typeface="Calibri"/>
              </a:rPr>
              <a:t>écarts corrigés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5321808"/>
            <a:ext cx="10874959" cy="914400"/>
          </a:xfrm>
          <a:prstGeom prst="rect">
            <a:avLst/>
          </a:prstGeom>
          <a:solidFill>
            <a:srgbClr val="0C19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87552" y="5513832"/>
            <a:ext cx="10216591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9CC28"/>
                </a:solidFill>
                <a:latin typeface="Calibri"/>
              </a:rPr>
              <a:t>La règle du cabinet, désormais inscrite dans l'outil.  </a:t>
            </a:r>
            <a:r>
              <a:rPr sz="1250" b="0" i="1">
                <a:solidFill>
                  <a:srgbClr val="FFFFFF"/>
                </a:solidFill>
                <a:latin typeface="Calibri"/>
              </a:rPr>
              <a:t>« Un investissement est bon lorsqu'il permet au client de générer de la valeur. Tout dépend donc de son horizon d'investissement et du facteur temps. »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0C19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60704"/>
            <a:ext cx="12191695" cy="50292"/>
          </a:xfrm>
          <a:prstGeom prst="rect">
            <a:avLst/>
          </a:prstGeom>
          <a:solidFill>
            <a:srgbClr val="F9C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58368" y="274320"/>
            <a:ext cx="512064" cy="512064"/>
          </a:xfrm>
          <a:prstGeom prst="ellipse">
            <a:avLst/>
          </a:prstGeom>
          <a:noFill/>
          <a:ln w="13970">
            <a:solidFill>
              <a:srgbClr val="F9CC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9CC28"/>
                </a:solidFill>
                <a:latin typeface="Georgia"/>
              </a:rP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08176" y="219456"/>
            <a:ext cx="10125151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FFFFFF"/>
                </a:solidFill>
                <a:latin typeface="Georgia"/>
              </a:rPr>
              <a:t>Bilan personnel</a:t>
            </a:r>
          </a:p>
          <a:p>
            <a:pPr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</a:pPr>
            <a:r>
              <a:rPr sz="1150" b="0" i="0">
                <a:solidFill>
                  <a:srgbClr val="A9B8CC"/>
                </a:solidFill>
                <a:latin typeface="Calibri"/>
              </a:rPr>
              <a:t>Ce que j'ai appris, ce qui m'a manqué, et ce que j'en fais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291072"/>
            <a:ext cx="10874959" cy="10972"/>
          </a:xfrm>
          <a:prstGeom prst="rect">
            <a:avLst/>
          </a:prstGeom>
          <a:solidFill>
            <a:srgbClr val="D9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82512"/>
            <a:ext cx="1032631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6657C"/>
                </a:solidFill>
                <a:latin typeface="Calibri"/>
              </a:rPr>
              <a:t>HOUNKPETOHOU Marius  ·  Soutenance de stage opérateur  ·  Choubel Consulting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84687" y="638251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5291"/>
                </a:solidFill>
                <a:latin typeface="Calibri"/>
              </a:rPr>
              <a:t>15 / 16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481328"/>
            <a:ext cx="3442106" cy="3310128"/>
          </a:xfrm>
          <a:prstGeom prst="rect">
            <a:avLst/>
          </a:prstGeom>
          <a:solidFill>
            <a:srgbClr val="F2F5F9"/>
          </a:solidFill>
          <a:ln w="9525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481328"/>
            <a:ext cx="50292" cy="3310128"/>
          </a:xfrm>
          <a:prstGeom prst="rect">
            <a:avLst/>
          </a:prstGeom>
          <a:solidFill>
            <a:srgbClr val="0052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1719072"/>
            <a:ext cx="2911754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005291"/>
                </a:solidFill>
                <a:latin typeface="Calibri"/>
              </a:rPr>
              <a:t>C E   Q U E   L A   1 A   A   S E R V I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000"/>
              </a:spcAft>
            </a:pPr>
            <a:r>
              <a:rPr sz="1250" b="1" i="0">
                <a:solidFill>
                  <a:srgbClr val="0C1930"/>
                </a:solidFill>
                <a:latin typeface="Calibri"/>
              </a:rPr>
              <a:t>Méthodes numériques </a:t>
            </a:r>
            <a:r>
              <a:rPr sz="1250" b="0" i="0">
                <a:solidFill>
                  <a:srgbClr val="0C1930"/>
                </a:solidFill>
                <a:latin typeface="Calibri"/>
              </a:rPr>
              <a:t>— chercher le TRI, c'est résoudre une équation : Newton-Raphson, puis repli sur une bissection bornée.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000"/>
              </a:spcAft>
            </a:pPr>
            <a:r>
              <a:rPr sz="1250" b="1" i="0">
                <a:solidFill>
                  <a:srgbClr val="0C1930"/>
                </a:solidFill>
                <a:latin typeface="Calibri"/>
              </a:rPr>
              <a:t>Mathématiques financières </a:t>
            </a:r>
            <a:r>
              <a:rPr sz="1250" b="0" i="0">
                <a:solidFill>
                  <a:srgbClr val="0C1930"/>
                </a:solidFill>
                <a:latin typeface="Calibri"/>
              </a:rPr>
              <a:t>— actualisation, annuités constantes.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000"/>
              </a:spcAft>
            </a:pPr>
            <a:r>
              <a:rPr sz="1250" b="1" i="0">
                <a:solidFill>
                  <a:srgbClr val="0C1930"/>
                </a:solidFill>
                <a:latin typeface="Calibri"/>
              </a:rPr>
              <a:t>Programmation et communication écrite </a:t>
            </a:r>
            <a:r>
              <a:rPr sz="1250" b="0" i="0">
                <a:solidFill>
                  <a:srgbClr val="0C1930"/>
                </a:solidFill>
                <a:latin typeface="Calibri"/>
              </a:rPr>
              <a:t>— en continu.</a:t>
            </a:r>
          </a:p>
          <a:p>
            <a:pPr algn="l">
              <a:lnSpc>
                <a:spcPct val="116000"/>
              </a:lnSpc>
              <a:spcBef>
                <a:spcPts val="600"/>
              </a:spcBef>
              <a:spcAft>
                <a:spcPts val="0"/>
              </a:spcAft>
            </a:pPr>
            <a:r>
              <a:rPr sz="1000" b="1" i="0">
                <a:solidFill>
                  <a:srgbClr val="B00020"/>
                </a:solidFill>
                <a:latin typeface="Calibri"/>
              </a:rPr>
              <a:t>[à compléter : intitulés des cours]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74794" y="1481328"/>
            <a:ext cx="3442106" cy="3310128"/>
          </a:xfrm>
          <a:prstGeom prst="rect">
            <a:avLst/>
          </a:prstGeom>
          <a:solidFill>
            <a:srgbClr val="F2F5F9"/>
          </a:solidFill>
          <a:ln w="9525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74794" y="1481328"/>
            <a:ext cx="50292" cy="3310128"/>
          </a:xfrm>
          <a:prstGeom prst="rect">
            <a:avLst/>
          </a:prstGeom>
          <a:solidFill>
            <a:srgbClr val="00BC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49114" y="1719072"/>
            <a:ext cx="2911754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00BCAA"/>
                </a:solidFill>
                <a:latin typeface="Calibri"/>
              </a:rPr>
              <a:t>C E   Q U E   J ' A I   A P P R I S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000"/>
              </a:spcAft>
            </a:pPr>
            <a:r>
              <a:rPr sz="1250" b="1" i="0">
                <a:solidFill>
                  <a:srgbClr val="0C1930"/>
                </a:solidFill>
                <a:latin typeface="Calibri"/>
              </a:rPr>
              <a:t>Écrire les conventions avant le code </a:t>
            </a:r>
            <a:r>
              <a:rPr sz="1250" b="0" i="0">
                <a:solidFill>
                  <a:srgbClr val="0C1930"/>
                </a:solidFill>
                <a:latin typeface="Calibri"/>
              </a:rPr>
              <a:t>— les arbitrages durs sont des définitions, pas des algorithmes.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000"/>
              </a:spcAft>
            </a:pPr>
            <a:r>
              <a:rPr sz="1250" b="1" i="0">
                <a:solidFill>
                  <a:srgbClr val="0C1930"/>
                </a:solidFill>
                <a:latin typeface="Calibri"/>
              </a:rPr>
              <a:t>Vérifier deux fois </a:t>
            </a:r>
            <a:r>
              <a:rPr sz="1250" b="0" i="0">
                <a:solidFill>
                  <a:srgbClr val="0C1930"/>
                </a:solidFill>
                <a:latin typeface="Calibri"/>
              </a:rPr>
              <a:t>— le dispositif protège aussi contre mes propres erreurs.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000"/>
              </a:spcAft>
            </a:pPr>
            <a:r>
              <a:rPr sz="1250" b="1" i="0">
                <a:solidFill>
                  <a:srgbClr val="0C1930"/>
                </a:solidFill>
                <a:latin typeface="Calibri"/>
              </a:rPr>
              <a:t>Si je ne sais pas l'expliquer </a:t>
            </a:r>
            <a:r>
              <a:rPr sz="1250" b="0" i="0">
                <a:solidFill>
                  <a:srgbClr val="0C1930"/>
                </a:solidFill>
                <a:latin typeface="Calibri"/>
              </a:rPr>
              <a:t>— je ne dois pas le livrer.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91220" y="1481328"/>
            <a:ext cx="3442106" cy="3310128"/>
          </a:xfrm>
          <a:prstGeom prst="rect">
            <a:avLst/>
          </a:prstGeom>
          <a:solidFill>
            <a:srgbClr val="F2F5F9"/>
          </a:solidFill>
          <a:ln w="9525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91220" y="1481328"/>
            <a:ext cx="50292" cy="3310128"/>
          </a:xfrm>
          <a:prstGeom prst="rect">
            <a:avLst/>
          </a:prstGeom>
          <a:solidFill>
            <a:srgbClr val="B00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65540" y="1719072"/>
            <a:ext cx="2911754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B00020"/>
                </a:solidFill>
                <a:latin typeface="Calibri"/>
              </a:rPr>
              <a:t>C E   Q U I   M ' A   M A N Q U É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000"/>
              </a:spcAft>
            </a:pPr>
            <a:r>
              <a:rPr sz="1250" b="1" i="0">
                <a:solidFill>
                  <a:srgbClr val="0C1930"/>
                </a:solidFill>
                <a:latin typeface="Calibri"/>
              </a:rPr>
              <a:t>Conduire un entretien utilisateur </a:t>
            </a:r>
            <a:r>
              <a:rPr sz="1250" b="0" i="0">
                <a:solidFill>
                  <a:srgbClr val="0C1930"/>
                </a:solidFill>
                <a:latin typeface="Calibri"/>
              </a:rPr>
              <a:t>— mon questionnaire a été improvisé, et trop tardif.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000"/>
              </a:spcAft>
            </a:pPr>
            <a:r>
              <a:rPr sz="1250" b="1" i="0">
                <a:solidFill>
                  <a:srgbClr val="0C1930"/>
                </a:solidFill>
                <a:latin typeface="Calibri"/>
              </a:rPr>
              <a:t>Culture du marché immobilier </a:t>
            </a:r>
            <a:r>
              <a:rPr sz="1250" b="0" i="0">
                <a:solidFill>
                  <a:srgbClr val="0C1930"/>
                </a:solidFill>
                <a:latin typeface="Calibri"/>
              </a:rPr>
              <a:t>— découverte en même temps que le vocabulaire.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000"/>
              </a:spcAft>
            </a:pPr>
            <a:r>
              <a:rPr sz="1250" b="1" i="0">
                <a:solidFill>
                  <a:srgbClr val="0C1930"/>
                </a:solidFill>
                <a:latin typeface="Calibri"/>
              </a:rPr>
              <a:t>Réflexes d'exploitation </a:t>
            </a:r>
            <a:r>
              <a:rPr sz="1250" b="0" i="0">
                <a:solidFill>
                  <a:srgbClr val="0C1930"/>
                </a:solidFill>
                <a:latin typeface="Calibri"/>
              </a:rPr>
              <a:t>— un bug invisible en local m'a appris la différence entre « ça marche » et « ça tourne ».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5010912"/>
            <a:ext cx="10874959" cy="1207008"/>
          </a:xfrm>
          <a:prstGeom prst="rect">
            <a:avLst/>
          </a:prstGeom>
          <a:solidFill>
            <a:srgbClr val="0C19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87552" y="5266944"/>
            <a:ext cx="10216591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9CC28"/>
                </a:solidFill>
                <a:latin typeface="Calibri"/>
              </a:rPr>
              <a:t>Mon plan.  </a:t>
            </a:r>
            <a:r>
              <a:rPr sz="1250" b="0" i="0">
                <a:solidFill>
                  <a:srgbClr val="FFFFFF"/>
                </a:solidFill>
                <a:latin typeface="Calibri"/>
              </a:rPr>
              <a:t>Imposer un </a:t>
            </a:r>
            <a:r>
              <a:rPr sz="1250" b="1" i="0">
                <a:solidFill>
                  <a:srgbClr val="FFFFFF"/>
                </a:solidFill>
                <a:latin typeface="Calibri"/>
              </a:rPr>
              <a:t>entretien de cadrage écrit dès le premier jour</a:t>
            </a:r>
            <a:r>
              <a:rPr sz="1250" b="0" i="0">
                <a:solidFill>
                  <a:srgbClr val="FFFFFF"/>
                </a:solidFill>
                <a:latin typeface="Calibri"/>
              </a:rPr>
              <a:t> de ma prochaine mission  ·  pratiquer le déploiement et la supervision sur mes propres projets  ·  chercher un stage à l'intersection du logiciel et d'un </a:t>
            </a:r>
            <a:r>
              <a:rPr sz="1250" b="1" i="0">
                <a:solidFill>
                  <a:srgbClr val="FFFFFF"/>
                </a:solidFill>
                <a:latin typeface="Calibri"/>
              </a:rPr>
              <a:t>métier exigeant</a:t>
            </a:r>
            <a:r>
              <a:rPr sz="1250" b="0" i="0">
                <a:solidFill>
                  <a:srgbClr val="FFFFFF"/>
                </a:solidFill>
                <a:latin typeface="Calibri"/>
              </a:rPr>
              <a:t>, dans une </a:t>
            </a:r>
            <a:r>
              <a:rPr sz="1250" b="1" i="0">
                <a:solidFill>
                  <a:srgbClr val="FFFFFF"/>
                </a:solidFill>
                <a:latin typeface="Calibri"/>
              </a:rPr>
              <a:t>équipe étoffée</a:t>
            </a:r>
            <a:r>
              <a:rPr sz="1250" b="0" i="0">
                <a:solidFill>
                  <a:srgbClr val="FFFFFF"/>
                </a:solidFill>
                <a:latin typeface="Calibri"/>
              </a:rPr>
              <a:t> — ce stage s'est fait en binôme, avec une autonomie large.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asablanca_vue_aerienn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85657"/>
            <a:ext cx="12191695" cy="7429314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930">
              <a:alpha val="8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3774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F9CC28"/>
                </a:solidFill>
                <a:latin typeface="Calibri"/>
              </a:rPr>
              <a:t>C H O U B E L   C O N S U L T I N G   —   1 3   J U I L L E T   A U   2 1   A O Û T   2 0 2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788920"/>
            <a:ext cx="100584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FFFFFF"/>
                </a:solidFill>
                <a:latin typeface="Georgia"/>
              </a:rPr>
              <a:t>Merci de votre attention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3950208"/>
            <a:ext cx="1554480" cy="45720"/>
          </a:xfrm>
          <a:prstGeom prst="rect">
            <a:avLst/>
          </a:prstGeom>
          <a:solidFill>
            <a:srgbClr val="F9C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4187952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00BCAA"/>
                </a:solidFill>
                <a:latin typeface="Calibri"/>
              </a:rPr>
              <a:t>Questions bienvenues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5532120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9CC28"/>
                </a:solidFill>
                <a:latin typeface="Calibri"/>
              </a:rPr>
              <a:t>Crédits photographiques</a:t>
            </a:r>
          </a:p>
          <a:p>
            <a:pPr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</a:pPr>
            <a:r>
              <a:rPr sz="950" b="0" i="0">
                <a:solidFill>
                  <a:srgbClr val="9AAABE"/>
                </a:solidFill>
                <a:latin typeface="Calibri"/>
              </a:rPr>
              <a:t>Casablanca Finance City : Turdyfirst, CC BY-SA 4.0  ·  quartier Maârif : karel291, CC BY 3.0  ·  marina en construction : Farid Mernissi, CC BY-SA 4.0  ·  vue aérienne : Jimmy Baikovicius, CC BY-SA 2.0 — toutes via Wikimedia Commons. Les captures d'écran sont des productions du stage.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Concevoir un outil d'aide à la décision pour un cabinet de conseil immobilier</dc:title>
  <dc:subject>Soutenance de stage opérateur — École Centrale Casablanca</dc:subject>
  <dc:creator>HOUNKPETOHOU Marius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