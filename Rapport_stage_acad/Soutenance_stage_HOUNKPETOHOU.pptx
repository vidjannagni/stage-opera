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ablanca_finance_c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80964"/>
            <a:ext cx="12191695" cy="881992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930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6072" y="384048"/>
            <a:ext cx="1124712" cy="1124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28119"/>
            <a:ext cx="960120" cy="8365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490911" y="384048"/>
            <a:ext cx="1124712" cy="1124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logo-choube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8260" y="466344"/>
            <a:ext cx="950013" cy="960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233172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9CC28"/>
                </a:solidFill>
                <a:latin typeface="Calibri"/>
              </a:rPr>
              <a:t>S O U T E N A N C E   D E   S T A G E   O P É R A T E U R   —   P R E M I È R E   A N N É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61488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Concevoir un outil d'aide à la décision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pour un cabinet de conseil immobilier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98848"/>
            <a:ext cx="1554480" cy="45720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718304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BCAA"/>
                </a:solidFill>
                <a:latin typeface="Calibri"/>
              </a:rPr>
              <a:t>L'application « RentImmo » — de la formule financière au geste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42432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HOUNKPETOHOU Marius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B9C6D6"/>
                </a:solidFill>
                <a:latin typeface="Calibri"/>
              </a:rPr>
              <a:t>Choubel Consulting, Casablanca</a:t>
            </a:r>
            <a:r>
              <a:rPr sz="1150" b="0" i="0">
                <a:solidFill>
                  <a:srgbClr val="F9CC28"/>
                </a:solidFill>
                <a:latin typeface="Calibri"/>
              </a:rPr>
              <a:t>     ·     </a:t>
            </a:r>
            <a:r>
              <a:rPr sz="1150" b="0" i="0">
                <a:solidFill>
                  <a:srgbClr val="B9C6D6"/>
                </a:solidFill>
                <a:latin typeface="Calibri"/>
              </a:rPr>
              <a:t>13 juillet — 21 août 2026</a:t>
            </a:r>
            <a:r>
              <a:rPr sz="1150" b="0" i="0">
                <a:solidFill>
                  <a:srgbClr val="F9CC28"/>
                </a:solidFill>
                <a:latin typeface="Calibri"/>
              </a:rPr>
              <a:t>     ·     </a:t>
            </a:r>
            <a:r>
              <a:rPr sz="1150" b="0" i="0">
                <a:solidFill>
                  <a:srgbClr val="B9C6D6"/>
                </a:solidFill>
                <a:latin typeface="Calibri"/>
              </a:rPr>
              <a:t>Tuteur : </a:t>
            </a:r>
            <a:r>
              <a:rPr sz="1150" b="1" i="0">
                <a:solidFill>
                  <a:srgbClr val="F9CC28"/>
                </a:solidFill>
                <a:latin typeface="Calibri"/>
              </a:rPr>
              <a:t>à compléter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Le cabinet et son métier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Choubel Consulting — conseil en investissement immobilier, Casablanca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6035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05291"/>
                </a:solidFill>
                <a:latin typeface="Calibri"/>
              </a:rPr>
              <a:t>C E   Q U E   L E   C A B I N E T   V E N 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C1930"/>
                </a:solidFill>
                <a:latin typeface="Calibri"/>
              </a:rPr>
              <a:t>Non pas un bien, mais un </a:t>
            </a:r>
            <a:r>
              <a:rPr sz="1350" b="1" i="0">
                <a:solidFill>
                  <a:srgbClr val="0C1930"/>
                </a:solidFill>
                <a:latin typeface="Calibri"/>
              </a:rPr>
              <a:t>accompagnement</a:t>
            </a:r>
            <a:r>
              <a:rPr sz="1350" b="0" i="0">
                <a:solidFill>
                  <a:srgbClr val="0C1930"/>
                </a:solidFill>
                <a:latin typeface="Calibri"/>
              </a:rPr>
              <a:t> : transformer un besoin exprimé en une acquisition chiffrée, et conduire le dossier jusqu'à la livraison.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05291"/>
                </a:solidFill>
                <a:latin typeface="Calibri"/>
              </a:rPr>
              <a:t>C E   Q U ' I L   T R A I T 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0C1930"/>
                </a:solidFill>
                <a:latin typeface="Calibri"/>
              </a:rPr>
              <a:t>4 familles de biens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— terrains, villas, appartements, immeubles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0C1930"/>
                </a:solidFill>
                <a:latin typeface="Calibri"/>
              </a:rPr>
              <a:t>5 niveaux de standing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— de l'économique au luxe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0C1930"/>
                </a:solidFill>
                <a:latin typeface="Calibri"/>
              </a:rPr>
              <a:t>3 états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— neuf, ancien, ou vendu sur plan (VEFA)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61688"/>
            <a:ext cx="6035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05291"/>
                </a:solidFill>
                <a:latin typeface="Calibri"/>
              </a:rPr>
              <a:t>S E S   C L I E N T 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C1930"/>
                </a:solidFill>
                <a:latin typeface="Calibri"/>
              </a:rPr>
              <a:t>Investisseurs particuliers, résidents et non-résidents : la </a:t>
            </a:r>
            <a:r>
              <a:rPr sz="1350" b="1" i="0">
                <a:solidFill>
                  <a:srgbClr val="0C1930"/>
                </a:solidFill>
                <a:latin typeface="Calibri"/>
              </a:rPr>
              <a:t>nationalité</a:t>
            </a:r>
            <a:r>
              <a:rPr sz="1350" b="0" i="0">
                <a:solidFill>
                  <a:srgbClr val="0C1930"/>
                </a:solidFill>
                <a:latin typeface="Calibri"/>
              </a:rPr>
              <a:t> et la </a:t>
            </a:r>
            <a:r>
              <a:rPr sz="1350" b="1" i="0">
                <a:solidFill>
                  <a:srgbClr val="0C1930"/>
                </a:solidFill>
                <a:latin typeface="Calibri"/>
              </a:rPr>
              <a:t>situation professionnelle</a:t>
            </a:r>
            <a:r>
              <a:rPr sz="1350" b="0" i="0">
                <a:solidFill>
                  <a:srgbClr val="0C1930"/>
                </a:solidFill>
                <a:latin typeface="Calibri"/>
              </a:rPr>
              <a:t> conditionnent l'accès au crédit local. Ce sont donc des données de premier entretien, pas des mentions administratives.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1" i="0">
                <a:solidFill>
                  <a:srgbClr val="B00020"/>
                </a:solidFill>
                <a:latin typeface="Calibri"/>
              </a:rPr>
              <a:t>[à compléter : création, effectif, forme juridique du cabinet]</a:t>
            </a:r>
          </a:p>
        </p:txBody>
      </p:sp>
      <p:pic>
        <p:nvPicPr>
          <p:cNvPr id="12" name="Picture 11" descr="casablanca_maari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607" y="1481328"/>
            <a:ext cx="4145279" cy="2331720"/>
          </a:xfrm>
          <a:prstGeom prst="rect">
            <a:avLst/>
          </a:prstGeom>
          <a:ln w="9525">
            <a:solidFill>
              <a:srgbClr val="D9E0E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059168" y="3913632"/>
            <a:ext cx="447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6657C"/>
                </a:solidFill>
                <a:latin typeface="Calibri"/>
              </a:rPr>
              <a:t>Le quartier Maârif, à Casablanca — l'une des zones de recherche des dossiers traités.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1">
                <a:solidFill>
                  <a:srgbClr val="56657C"/>
                </a:solidFill>
                <a:latin typeface="Calibri"/>
              </a:rPr>
              <a:t>Photo karel291, Wikimedia Commons, CC BY 3.0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59168" y="4882896"/>
            <a:ext cx="4474159" cy="86868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8" y="4882896"/>
            <a:ext cx="50292" cy="868680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3488" y="5065776"/>
            <a:ext cx="39712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0C1930"/>
                </a:solidFill>
                <a:latin typeface="Calibri"/>
              </a:rPr>
              <a:t>Cette amplitude n'est pas un argument commercial : c'est une contrainte de conception.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Le fonctionnement observé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Un processus stable en six étapes — mais écrit nulle 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3 / 16</a:t>
            </a:r>
          </a:p>
        </p:txBody>
      </p:sp>
      <p:sp>
        <p:nvSpPr>
          <p:cNvPr id="9" name="Pentagon 8"/>
          <p:cNvSpPr/>
          <p:nvPr/>
        </p:nvSpPr>
        <p:spPr>
          <a:xfrm>
            <a:off x="658368" y="1481328"/>
            <a:ext cx="1736293" cy="749808"/>
          </a:xfrm>
          <a:prstGeom prst="homePlate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1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Recueil
du besoin</a:t>
            </a:r>
          </a:p>
        </p:txBody>
      </p:sp>
      <p:sp>
        <p:nvSpPr>
          <p:cNvPr id="10" name="Chevron 9"/>
          <p:cNvSpPr/>
          <p:nvPr/>
        </p:nvSpPr>
        <p:spPr>
          <a:xfrm>
            <a:off x="2486101" y="1481328"/>
            <a:ext cx="1736293" cy="749808"/>
          </a:xfrm>
          <a:prstGeom prst="chevron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2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Recherche</a:t>
            </a:r>
          </a:p>
        </p:txBody>
      </p:sp>
      <p:sp>
        <p:nvSpPr>
          <p:cNvPr id="11" name="Chevron 10"/>
          <p:cNvSpPr/>
          <p:nvPr/>
        </p:nvSpPr>
        <p:spPr>
          <a:xfrm>
            <a:off x="4313834" y="1481328"/>
            <a:ext cx="1736293" cy="749808"/>
          </a:xfrm>
          <a:prstGeom prst="chevron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3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Présentation
et visites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141567" y="1481328"/>
            <a:ext cx="1736293" cy="749808"/>
          </a:xfrm>
          <a:prstGeom prst="chevron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4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Compromis</a:t>
            </a:r>
          </a:p>
        </p:txBody>
      </p:sp>
      <p:sp>
        <p:nvSpPr>
          <p:cNvPr id="13" name="Chevron 12"/>
          <p:cNvSpPr/>
          <p:nvPr/>
        </p:nvSpPr>
        <p:spPr>
          <a:xfrm>
            <a:off x="7969300" y="1481328"/>
            <a:ext cx="1736293" cy="749808"/>
          </a:xfrm>
          <a:prstGeom prst="chevron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Acte
notarié</a:t>
            </a:r>
          </a:p>
        </p:txBody>
      </p:sp>
      <p:sp>
        <p:nvSpPr>
          <p:cNvPr id="14" name="Chevron 13"/>
          <p:cNvSpPr/>
          <p:nvPr/>
        </p:nvSpPr>
        <p:spPr>
          <a:xfrm>
            <a:off x="9797034" y="1481328"/>
            <a:ext cx="1736293" cy="749808"/>
          </a:xfrm>
          <a:prstGeom prst="chevron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6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Livraison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05456"/>
            <a:ext cx="3454298" cy="1874519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2505456"/>
            <a:ext cx="50292" cy="1874519"/>
          </a:xfrm>
          <a:prstGeom prst="rect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2724912"/>
            <a:ext cx="295137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05291"/>
                </a:solidFill>
                <a:latin typeface="Calibri"/>
              </a:rPr>
              <a:t>O U T I L S   S U P P O R T 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Tableurs construits au cas par cas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Notes et échanges informels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Aucun format de restitution commun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8698" y="2505456"/>
            <a:ext cx="3454298" cy="1874519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8698" y="2505456"/>
            <a:ext cx="50292" cy="1874519"/>
          </a:xfrm>
          <a:prstGeom prst="rect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3018" y="2724912"/>
            <a:ext cx="295137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05291"/>
                </a:solidFill>
                <a:latin typeface="Calibri"/>
              </a:rPr>
              <a:t>L I V R A B L E S   A U   C L I E N 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Une sélection de biens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Un argumentaire chiffré, oral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Rien de systématiquement remis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79028" y="2505456"/>
            <a:ext cx="3454298" cy="1874519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79028" y="2505456"/>
            <a:ext cx="50292" cy="1874519"/>
          </a:xfrm>
          <a:prstGeom prst="rect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3348" y="2724912"/>
            <a:ext cx="295137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05291"/>
                </a:solidFill>
                <a:latin typeface="Calibri"/>
              </a:rPr>
              <a:t>A C T E U R S   D U   D O S S I E 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Le conseiller, du début à la fin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Agences, promoteurs, notaire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Banque pour le financement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608576"/>
            <a:ext cx="10874959" cy="841248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4773168"/>
            <a:ext cx="10234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9CC28"/>
                </a:solidFill>
                <a:latin typeface="Calibri"/>
              </a:rPr>
              <a:t>Observation.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Le savoir-faire est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dans les têtes, pas dans les procédures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 Cela fonctionne tant que les effectifs sont stables — et rend coûteuse toute reprise de dossier.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Diagnostic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Trois constats, une problématique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05291"/>
                </a:solidFill>
                <a:latin typeface="Calibri"/>
              </a:rPr>
              <a:t>C E   Q U I   C O I N C 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83664"/>
            <a:ext cx="6492240" cy="1042415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83664"/>
            <a:ext cx="50292" cy="1042415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066544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5291"/>
                </a:solidFill>
                <a:latin typeface="Calibri"/>
              </a:rPr>
              <a:t>Traçabilité 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un chiffre calculé au cas par cas ne se retrouve pas six mois plus tard, ni par un autre conseiller.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54096"/>
            <a:ext cx="6492240" cy="1042415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054096"/>
            <a:ext cx="50292" cy="1042415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236976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5291"/>
                </a:solidFill>
                <a:latin typeface="Calibri"/>
              </a:rPr>
              <a:t>Crédibilité en rendez-vous 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un tableur montré à l'écran ne vaut pas un document remis, chiffré et daté.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224528"/>
            <a:ext cx="6492240" cy="1042415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224528"/>
            <a:ext cx="50292" cy="1042415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407408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5291"/>
                </a:solidFill>
                <a:latin typeface="Calibri"/>
              </a:rPr>
              <a:t>Diversité des opérations 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appartement loué, terrain porté dix ans, immeuble construit puis revendu : trois logiques économiques, un seul outil.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449824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05291"/>
                </a:solidFill>
                <a:latin typeface="Calibri"/>
              </a:rPr>
              <a:t>G I S E M E N T S   D ' A M É L I O R A T I O 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6657C"/>
                </a:solidFill>
                <a:latin typeface="Calibri"/>
              </a:rPr>
              <a:t>Homogénéiser le calcul  ·  écrire les conventions  ·  produire un document client  ·  suivre l'avancement des dossiers.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62088" y="1481328"/>
            <a:ext cx="3971239" cy="2286000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72983" y="1755648"/>
            <a:ext cx="33494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9CC28"/>
                </a:solidFill>
                <a:latin typeface="Calibri"/>
              </a:rPr>
              <a:t>P R O B L É M A T I Q U E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Georgia"/>
              </a:rPr>
              <a:t>Comment outiller un conseil qui repose sur le </a:t>
            </a:r>
            <a:r>
              <a:rPr sz="1600" b="1" i="0">
                <a:solidFill>
                  <a:srgbClr val="F9CC28"/>
                </a:solidFill>
                <a:latin typeface="Georgia"/>
              </a:rPr>
              <a:t>jugement du client</a:t>
            </a:r>
            <a:r>
              <a:rPr sz="1600" b="0" i="0">
                <a:solidFill>
                  <a:srgbClr val="FFFFFF"/>
                </a:solidFill>
                <a:latin typeface="Georgia"/>
              </a:rPr>
              <a:t>, sans le remplacer par un verdict automatique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4087368"/>
            <a:ext cx="123230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5291"/>
                </a:solidFill>
                <a:latin typeface="Georgia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4544568"/>
            <a:ext cx="12323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6657C"/>
                </a:solidFill>
                <a:latin typeface="Calibri"/>
              </a:rPr>
              <a:t>semaines de 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5834" y="4087368"/>
            <a:ext cx="123230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5291"/>
                </a:solidFill>
                <a:latin typeface="Georgia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5834" y="4544568"/>
            <a:ext cx="12323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6657C"/>
                </a:solidFill>
                <a:latin typeface="Calibri"/>
              </a:rPr>
              <a:t>développeurs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9580" y="4087368"/>
            <a:ext cx="123230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5291"/>
                </a:solidFill>
                <a:latin typeface="Georgia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09580" y="4544568"/>
            <a:ext cx="12323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6657C"/>
                </a:solidFill>
                <a:latin typeface="Calibri"/>
              </a:rPr>
              <a:t>questions au tuteur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Mon périmètre d'intervention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Ce que j'ai proposé, et comment le travail a été organisé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5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54406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05291"/>
                </a:solidFill>
                <a:latin typeface="Calibri"/>
              </a:rPr>
              <a:t>L A   P R O P O S I T I O 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C1930"/>
                </a:solidFill>
                <a:latin typeface="Calibri"/>
              </a:rPr>
              <a:t>RentImmo</a:t>
            </a:r>
            <a:r>
              <a:rPr sz="1350" b="0" i="0">
                <a:solidFill>
                  <a:srgbClr val="0C1930"/>
                </a:solidFill>
                <a:latin typeface="Calibri"/>
              </a:rPr>
              <a:t> : une application web interne au cabinet, du recueil du besoin au document remis au client, en moins de </a:t>
            </a:r>
            <a:r>
              <a:rPr sz="1350" b="1" i="0">
                <a:solidFill>
                  <a:srgbClr val="0C1930"/>
                </a:solidFill>
                <a:latin typeface="Calibri"/>
              </a:rPr>
              <a:t>dix minutes</a:t>
            </a:r>
            <a:r>
              <a:rPr sz="1350" b="0" i="0">
                <a:solidFill>
                  <a:srgbClr val="0C1930"/>
                </a:solidFill>
                <a:latin typeface="Calibri"/>
              </a:rPr>
              <a:t> — la durée d'une séquence de rendez-vous.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98648"/>
            <a:ext cx="5440679" cy="1234440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099816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9CC28"/>
                </a:solidFill>
                <a:latin typeface="Calibri"/>
              </a:rPr>
              <a:t>L A   R È G L E   P O S É E   E N   S E M A I N E   1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« Aucune ligne de logique financière ne sera écrite avant que les conventions de calcul ne soient rédigées.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315968"/>
            <a:ext cx="54406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6657C"/>
                </a:solidFill>
                <a:latin typeface="Calibri"/>
              </a:rPr>
              <a:t>Les arbitrages difficiles n'étaient pas du code, mais des </a:t>
            </a:r>
            <a:r>
              <a:rPr sz="1250" b="1" i="0">
                <a:solidFill>
                  <a:srgbClr val="56657C"/>
                </a:solidFill>
                <a:latin typeface="Calibri"/>
              </a:rPr>
              <a:t>définitions</a:t>
            </a:r>
            <a:r>
              <a:rPr sz="1250" b="0" i="0">
                <a:solidFill>
                  <a:srgbClr val="56657C"/>
                </a:solidFill>
                <a:latin typeface="Calibri"/>
              </a:rPr>
              <a:t> : que compte-t-on dans les charges ? un champ laissé vide vaut-il zéro, ou « hériter de la valeur par défaut »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1481328"/>
            <a:ext cx="5068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05291"/>
                </a:solidFill>
                <a:latin typeface="Calibri"/>
              </a:rPr>
              <a:t>L ' O R G A N I S A T I O N ,   S E M A I N E   P A R   S E M A I N 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64807" y="1828800"/>
          <a:ext cx="5068518" cy="27797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0426"/>
                <a:gridCol w="1355534"/>
                <a:gridCol w="3182558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Sem.</a:t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Objet</a:t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Livré</a:t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Cadrage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Cahier des charges, conventions, modèle de données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Moteur et socle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Moteur financier en Python pur, socle web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Restitution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Graphiques, comparaison de scénarios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Documents client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Travaux par postes, exports PDF et Excel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Consolidation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C1930"/>
                          </a:solidFill>
                          <a:latin typeface="Calibri"/>
                        </a:rPr>
                        <a:t>Cas réels, cas limites, jeu de démonstration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C193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C1930"/>
                          </a:solidFill>
                          <a:latin typeface="Calibri"/>
                        </a:rPr>
                        <a:t>Cadrage métier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C1930"/>
                          </a:solidFill>
                          <a:latin typeface="Calibri"/>
                        </a:rPr>
                        <a:t>Entretien, refonte, étude automatique, mise en ligne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64807" y="4910328"/>
            <a:ext cx="5068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6657C"/>
                </a:solidFill>
                <a:latin typeface="Calibri"/>
              </a:rPr>
              <a:t>Un rapport d'avancement chaque dimanche  ·  un jeu de tests au vert à chaque fin de semaine  ·  tout versionné dans Git.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Comment c'est construit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Un choix structurant : isoler le calcul de tout le reste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55648"/>
            <a:ext cx="2286000" cy="960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Navigateur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56657C"/>
                </a:solidFill>
                <a:latin typeface="Calibri"/>
              </a:rPr>
              <a:t>Bootstrap, Chart.js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7" y="1755648"/>
            <a:ext cx="2651760" cy="960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Application Flask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56657C"/>
                </a:solidFill>
                <a:latin typeface="Calibri"/>
              </a:rPr>
              <a:t>pages, formulaires, sécurité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1968" y="1618488"/>
            <a:ext cx="2880360" cy="1234440"/>
          </a:xfrm>
          <a:prstGeom prst="rect">
            <a:avLst/>
          </a:prstGeom>
          <a:solidFill>
            <a:srgbClr val="E6F7F5"/>
          </a:solidFill>
          <a:ln w="17780">
            <a:solidFill>
              <a:srgbClr val="00BC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Moteur financier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56657C"/>
                </a:solidFill>
                <a:latin typeface="Calibri"/>
              </a:rPr>
              <a:t>Python pur, sans Flask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00BCAA"/>
                </a:solidFill>
                <a:latin typeface="Calibri"/>
              </a:rPr>
              <a:t>testable seul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7" y="3355848"/>
            <a:ext cx="2651760" cy="960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Base de données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56657C"/>
                </a:solidFill>
                <a:latin typeface="Calibri"/>
              </a:rPr>
              <a:t>SQLAlchemy + migrations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01968" y="3355848"/>
            <a:ext cx="2880360" cy="960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Exports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56657C"/>
                </a:solidFill>
                <a:latin typeface="Calibri"/>
              </a:rPr>
              <a:t>PDF (WeasyPrint), Excel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44368" y="2235708"/>
            <a:ext cx="502919" cy="0"/>
          </a:xfrm>
          <a:prstGeom prst="line">
            <a:avLst/>
          </a:prstGeom>
          <a:ln w="19050">
            <a:solidFill>
              <a:srgbClr val="005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5708"/>
            <a:ext cx="502920" cy="0"/>
          </a:xfrm>
          <a:prstGeom prst="line">
            <a:avLst/>
          </a:prstGeom>
          <a:ln w="19050">
            <a:solidFill>
              <a:srgbClr val="005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73168" y="2715768"/>
            <a:ext cx="0" cy="640080"/>
          </a:xfrm>
          <a:prstGeom prst="line">
            <a:avLst/>
          </a:prstGeom>
          <a:ln w="19050">
            <a:solidFill>
              <a:srgbClr val="005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37576" y="2852928"/>
            <a:ext cx="0" cy="502920"/>
          </a:xfrm>
          <a:prstGeom prst="line">
            <a:avLst/>
          </a:prstGeom>
          <a:ln w="19050">
            <a:solidFill>
              <a:srgbClr val="00529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58368" y="4654296"/>
            <a:ext cx="5282031" cy="1298448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654296"/>
            <a:ext cx="50292" cy="1298448"/>
          </a:xfrm>
          <a:prstGeom prst="rect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855464"/>
            <a:ext cx="4733391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5291"/>
                </a:solidFill>
                <a:latin typeface="Calibri"/>
              </a:rPr>
              <a:t>P O U R Q U O I   S É P A R E R   L E   M O T E U R   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il se teste sans lancer l'application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il se confronte à des valeurs de référence externes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il est réutilisable ailleurs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1295" y="4654296"/>
            <a:ext cx="5282031" cy="1298448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1295" y="4654296"/>
            <a:ext cx="50292" cy="1298448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3903" y="4855464"/>
            <a:ext cx="4733391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5291"/>
                </a:solidFill>
                <a:latin typeface="Calibri"/>
              </a:rPr>
              <a:t>U N E   D É C I S I O N   D E   C O N C E P T I O N</a:t>
            </a:r>
          </a:p>
          <a:p>
            <a:pPr algn="l">
              <a:lnSpc>
                <a:spcPct val="114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0C1930"/>
                </a:solidFill>
                <a:latin typeface="Calibri"/>
              </a:rPr>
              <a:t>Les résultats ne sont </a:t>
            </a:r>
            <a:r>
              <a:rPr sz="1150" b="1" i="0">
                <a:solidFill>
                  <a:srgbClr val="0C1930"/>
                </a:solidFill>
                <a:latin typeface="Calibri"/>
              </a:rPr>
              <a:t>jamais stockés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, toujours recalculés : une incohérence entre les hypothèses affichées et les indicateurs devient structurellement impossible.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Réalisation — partir du besoin, pas du bien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Le brief de recherche : les critères recueillis au premier entretien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7 / 16</a:t>
            </a:r>
          </a:p>
        </p:txBody>
      </p:sp>
      <p:pic>
        <p:nvPicPr>
          <p:cNvPr id="9" name="Picture 8" descr="app_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2899"/>
            <a:ext cx="10874959" cy="3398424"/>
          </a:xfrm>
          <a:prstGeom prst="rect">
            <a:avLst/>
          </a:prstGeom>
          <a:ln w="9525">
            <a:solidFill>
              <a:srgbClr val="D9E0EA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658368" y="5029200"/>
            <a:ext cx="5282031" cy="1042415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029200"/>
            <a:ext cx="50292" cy="1042415"/>
          </a:xfrm>
          <a:prstGeom prst="rect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212080"/>
            <a:ext cx="473339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C1930"/>
                </a:solidFill>
                <a:latin typeface="Calibri"/>
              </a:rPr>
              <a:t>Type de bien, standing, superficie, distribution, commodités, zone, budget, mode de financement.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1295" y="5029200"/>
            <a:ext cx="5282031" cy="1042415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3903" y="5212080"/>
            <a:ext cx="473339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Et surtout : l'</a:t>
            </a:r>
            <a:r>
              <a:rPr sz="1250" b="1" i="0">
                <a:solidFill>
                  <a:srgbClr val="F9CC28"/>
                </a:solidFill>
                <a:latin typeface="Calibri"/>
              </a:rPr>
              <a:t>objectif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 et l'</a:t>
            </a:r>
            <a:r>
              <a:rPr sz="1250" b="1" i="0">
                <a:solidFill>
                  <a:srgbClr val="F9CC28"/>
                </a:solidFill>
                <a:latin typeface="Calibri"/>
              </a:rPr>
              <a:t>horizon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 du client, qui serviront ensuite à lire les indicateurs. Cet écran n'existait pas avant la semaine 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Réalisation — ce que le conseiller montre au client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Les indicateurs, puis les montages comparés côte à côte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8 / 16</a:t>
            </a:r>
          </a:p>
        </p:txBody>
      </p:sp>
      <p:pic>
        <p:nvPicPr>
          <p:cNvPr id="9" name="Picture 8" descr="app_resultats_loc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31" y="1481328"/>
            <a:ext cx="5241073" cy="2148840"/>
          </a:xfrm>
          <a:prstGeom prst="rect">
            <a:avLst/>
          </a:prstGeom>
          <a:ln w="9525">
            <a:solidFill>
              <a:srgbClr val="D9E0EA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658368" y="3785616"/>
            <a:ext cx="5254599" cy="960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85616"/>
            <a:ext cx="50292" cy="960120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950208"/>
            <a:ext cx="472424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1930"/>
                </a:solidFill>
                <a:latin typeface="Calibri"/>
              </a:rPr>
              <a:t>Rendement net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 et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cash-flow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 en première ligne. Valeur créée, TRI et VAN au second rang. </a:t>
            </a:r>
            <a:r>
              <a:rPr sz="1200" b="1" i="0">
                <a:solidFill>
                  <a:srgbClr val="005291"/>
                </a:solidFill>
                <a:latin typeface="Calibri"/>
              </a:rPr>
              <a:t>Aucun seuil de rentabilité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 : ils se lisent à l'aune de l'objectif du client.</a:t>
            </a:r>
          </a:p>
        </p:txBody>
      </p:sp>
      <p:pic>
        <p:nvPicPr>
          <p:cNvPr id="13" name="Picture 12" descr="app_compara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490" y="1481328"/>
            <a:ext cx="5241073" cy="2148840"/>
          </a:xfrm>
          <a:prstGeom prst="rect">
            <a:avLst/>
          </a:prstGeom>
          <a:ln w="9525">
            <a:solidFill>
              <a:srgbClr val="D9E0EA"/>
            </a:solidFill>
          </a:ln>
        </p:spPr>
      </p:pic>
      <p:sp>
        <p:nvSpPr>
          <p:cNvPr id="14" name="Rectangle 13"/>
          <p:cNvSpPr/>
          <p:nvPr/>
        </p:nvSpPr>
        <p:spPr>
          <a:xfrm>
            <a:off x="6278727" y="3785616"/>
            <a:ext cx="5254599" cy="960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3785616"/>
            <a:ext cx="50292" cy="960120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3950208"/>
            <a:ext cx="472424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C1930"/>
                </a:solidFill>
                <a:latin typeface="Calibri"/>
              </a:rPr>
              <a:t>Trois montages pour le même bien : l'écran d'arbitrage du rendez-vous. Chaque scénario s'exporte en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PDF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 et en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Excel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 aux couleurs du cabinet.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956048"/>
            <a:ext cx="10874959" cy="932688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5138928"/>
            <a:ext cx="1023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Les conventions de calcul sont imprimées dans chaque export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 — périmètre des charges, fiscalité au taux effectif, travaux intégrés au coût d'acquisition. Le conseiller ne peut pas être contredit sur un chiffre dont la convention est écrite sous le tableau.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Le tournant du stage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Semaine 6 : huit questions au tuteur — et trois hypothèses sur quatre invalidées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5669279" cy="2788920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755648"/>
            <a:ext cx="493775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9CC28"/>
                </a:solidFill>
                <a:latin typeface="Georgia"/>
              </a:rPr>
              <a:t>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Les deux critères les plus récurrents sont le </a:t>
            </a:r>
            <a:r>
              <a:rPr sz="1300" b="1" i="0">
                <a:solidFill>
                  <a:srgbClr val="F9CC28"/>
                </a:solidFill>
                <a:latin typeface="Calibri"/>
              </a:rPr>
              <a:t>rendement net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et le </a:t>
            </a:r>
            <a:r>
              <a:rPr sz="1300" b="1" i="0">
                <a:solidFill>
                  <a:srgbClr val="F9CC28"/>
                </a:solidFill>
                <a:latin typeface="Calibri"/>
              </a:rPr>
              <a:t>cash-flow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Un investissement est bon lorsqu'il permet au client de </a:t>
            </a:r>
            <a:r>
              <a:rPr sz="1300" b="1" i="0">
                <a:solidFill>
                  <a:srgbClr val="F9CC28"/>
                </a:solidFill>
                <a:latin typeface="Calibri"/>
              </a:rPr>
              <a:t>générer de la valeur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. Tout dépend donc de son </a:t>
            </a:r>
            <a:r>
              <a:rPr sz="1300" b="1" i="0">
                <a:solidFill>
                  <a:srgbClr val="F9CC28"/>
                </a:solidFill>
                <a:latin typeface="Calibri"/>
              </a:rPr>
              <a:t>horizon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et du </a:t>
            </a:r>
            <a:r>
              <a:rPr sz="1300" b="1" i="0">
                <a:solidFill>
                  <a:srgbClr val="F9CC28"/>
                </a:solidFill>
                <a:latin typeface="Calibri"/>
              </a:rPr>
              <a:t>facteur temps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E9EB4"/>
                </a:solidFill>
                <a:latin typeface="Calibri"/>
              </a:rPr>
              <a:t>Entretien de cadrage métier, août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7" y="1481328"/>
            <a:ext cx="4839919" cy="1298448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93407" y="1481328"/>
            <a:ext cx="50292" cy="1298448"/>
          </a:xfrm>
          <a:prstGeom prst="rect">
            <a:avLst/>
          </a:prstGeom>
          <a:solidFill>
            <a:srgbClr val="566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1664208"/>
            <a:ext cx="4291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6657C"/>
                </a:solidFill>
                <a:latin typeface="Calibri"/>
              </a:rPr>
              <a:t>C E   Q U E   J E   C R O Y A I 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56657C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Le TRI et la VAN décident.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56657C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Il existe un seuil de rentabilité.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56657C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Tout bien produit un loyer.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3407" y="2962656"/>
            <a:ext cx="4839919" cy="1298448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93407" y="2962656"/>
            <a:ext cx="50292" cy="1298448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3145536"/>
            <a:ext cx="4291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BCAA"/>
                </a:solidFill>
                <a:latin typeface="Calibri"/>
              </a:rPr>
              <a:t>C E   Q U E   L E   M É T I E R   F A I 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Rendement net et cash-flow d'abord.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Aucun seuil : le client tranche.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Les deux meilleurs dossiers n'ont aucun loyer.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498848"/>
            <a:ext cx="10874959" cy="960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498848"/>
            <a:ext cx="50292" cy="96012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681728"/>
            <a:ext cx="102348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00020"/>
                </a:solidFill>
                <a:latin typeface="Calibri"/>
              </a:rPr>
              <a:t>Mon erreur de méthode. 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Cet entretien aurait dû avoir lieu en semaine 1, pas en semaine 6. Cinq semaines ont reposé sur des hypothèses non vérifiées : j'avais pris le silence de départ pour un accord.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Les deux dossiers qui ont tout changé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Même capital, même cabinet — le classement dépend de la durée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10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481328"/>
          <a:ext cx="7452358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86485"/>
                <a:gridCol w="2946281"/>
                <a:gridCol w="3119592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Client 1 — portage foncier</a:t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Client 2 — construction-revente</a:t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≈ 1 000 000 MAD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≈ 1 000 000 MAD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Bien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Terrain de 3 ha, zone ciblée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Terrain viabilisé de 500 m² à 1,1 M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Opération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Conservé, sans mise en valeur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Immeuble R+4, 20 appartements revendus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0C1930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0C1930"/>
                          </a:solidFill>
                          <a:latin typeface="Calibri"/>
                        </a:rPr>
                        <a:t>10 ans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0C1930"/>
                          </a:solidFill>
                          <a:latin typeface="Calibri"/>
                        </a:rPr>
                        <a:t>2 ans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0C1930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0C1930"/>
                          </a:solidFill>
                          <a:latin typeface="Calibri"/>
                        </a:rPr>
                        <a:t>≈ 15 000 000 MAD de bénéfice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0C1930"/>
                          </a:solidFill>
                          <a:latin typeface="Calibri"/>
                        </a:rPr>
                        <a:t>5 000 000 MAD de plus-value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4334256"/>
            <a:ext cx="7452360" cy="1115568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4535424"/>
            <a:ext cx="6812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À deux ans, le client 2 a fait la meilleure opération. À dix ans, le classement s'inverse. </a:t>
            </a:r>
            <a:r>
              <a:rPr sz="1300" b="1" i="0">
                <a:solidFill>
                  <a:srgbClr val="F9CC28"/>
                </a:solidFill>
                <a:latin typeface="Calibri"/>
              </a:rPr>
              <a:t>Aucun des deux dossiers n'a de loyer.</a:t>
            </a:r>
          </a:p>
        </p:txBody>
      </p:sp>
      <p:pic>
        <p:nvPicPr>
          <p:cNvPr id="12" name="Picture 11" descr="casablanca_marina_chan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1523733"/>
            <a:ext cx="3056839" cy="2292629"/>
          </a:xfrm>
          <a:prstGeom prst="rect">
            <a:avLst/>
          </a:prstGeom>
          <a:ln w="9525">
            <a:solidFill>
              <a:srgbClr val="D9E0E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476488" y="3968496"/>
            <a:ext cx="30568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6657C"/>
                </a:solidFill>
                <a:latin typeface="Calibri"/>
              </a:rPr>
              <a:t>Un chantier à Casablanca : sur un achat sur plan, les mensualités courent pendant que le bien ne produit encore rien.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 i="1">
                <a:solidFill>
                  <a:srgbClr val="56657C"/>
                </a:solidFill>
                <a:latin typeface="Calibri"/>
              </a:rPr>
              <a:t>Photo Farid Mernissi, Wikimedia Commons, CC BY-SA 4.0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Ce que la refonte a changé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Sept écarts relevés, sept corrections apportées en semaine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11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481328"/>
          <a:ext cx="10874958" cy="30906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5695"/>
                <a:gridCol w="3832977"/>
                <a:gridCol w="6596286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Écart constaté</a:t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Correction apportée</a:t>
                      </a:r>
                    </a:p>
                  </a:txBody>
                  <a:tcPr marL="109728" marR="91440" marT="41148" marB="41148" anchor="ctr">
                    <a:solidFill>
                      <a:srgbClr val="0C193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TRI et VAN affichés en tête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Rendement net et cash-flow remontés en première ligne, partout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Un loyer supposé dans tous les cas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Opération sans loyer traitée nativement : la valeur vient de la plus-value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Le facteur temps, paramètre secondaire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Horizon et délai de livraison passés au premier plan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Phase amont absente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Ajout du brief de recherche au modèle de données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Fiche client incomplète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Situation professionnelle, nationalité, budget disponible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Déroulé du dossier non suivi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Les six étapes du métier deviennent six statuts de dossier</a:t>
                      </a:r>
                    </a:p>
                  </a:txBody>
                  <a:tcPr marL="109728" marR="91440" marT="41148" marB="41148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VEFA traitée comme un bien louable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0C1930"/>
                          </a:solidFill>
                          <a:latin typeface="Calibri"/>
                        </a:rPr>
                        <a:t>Délai de livraison modélisé, et proratisé sur l'année</a:t>
                      </a:r>
                    </a:p>
                  </a:txBody>
                  <a:tcPr marL="109728" marR="91440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4626864"/>
            <a:ext cx="10874959" cy="960120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4828032"/>
            <a:ext cx="102348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Et une suppression : </a:t>
            </a:r>
            <a:r>
              <a:rPr sz="1300" b="1" i="0">
                <a:solidFill>
                  <a:srgbClr val="F9CC28"/>
                </a:solidFill>
                <a:latin typeface="Calibri"/>
              </a:rPr>
              <a:t>le seuil de rentabilité universel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. Un montage n'est plus jugé dans l'absolu, mais relativement à l'objectif et à l'horizon que le client a déclarés.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L'étude automatique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La dernière fonctionnalité livrée — et celle dont je suis le plus satisfait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12 / 16</a:t>
            </a:r>
          </a:p>
        </p:txBody>
      </p:sp>
      <p:sp>
        <p:nvSpPr>
          <p:cNvPr id="9" name="Pentagon 8"/>
          <p:cNvSpPr/>
          <p:nvPr/>
        </p:nvSpPr>
        <p:spPr>
          <a:xfrm>
            <a:off x="658368" y="1481328"/>
            <a:ext cx="2650159" cy="640080"/>
          </a:xfrm>
          <a:prstGeom prst="homePlate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1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Le bien et le client</a:t>
            </a:r>
          </a:p>
        </p:txBody>
      </p:sp>
      <p:sp>
        <p:nvSpPr>
          <p:cNvPr id="10" name="Chevron 9"/>
          <p:cNvSpPr/>
          <p:nvPr/>
        </p:nvSpPr>
        <p:spPr>
          <a:xfrm>
            <a:off x="3399967" y="1481328"/>
            <a:ext cx="2650159" cy="640080"/>
          </a:xfrm>
          <a:prstGeom prst="chevron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2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Sept montages construits</a:t>
            </a:r>
          </a:p>
        </p:txBody>
      </p:sp>
      <p:sp>
        <p:nvSpPr>
          <p:cNvPr id="11" name="Chevron 10"/>
          <p:cNvSpPr/>
          <p:nvPr/>
        </p:nvSpPr>
        <p:spPr>
          <a:xfrm>
            <a:off x="6141567" y="1481328"/>
            <a:ext cx="2650159" cy="640080"/>
          </a:xfrm>
          <a:prstGeom prst="chevron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3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0C1930"/>
                </a:solidFill>
                <a:latin typeface="Calibri"/>
              </a:rPr>
              <a:t>Confrontés sur quatre critères</a:t>
            </a:r>
          </a:p>
        </p:txBody>
      </p:sp>
      <p:sp>
        <p:nvSpPr>
          <p:cNvPr id="12" name="Chevron 11"/>
          <p:cNvSpPr/>
          <p:nvPr/>
        </p:nvSpPr>
        <p:spPr>
          <a:xfrm>
            <a:off x="8883167" y="1481328"/>
            <a:ext cx="2650159" cy="640080"/>
          </a:xfrm>
          <a:prstGeom prst="chevron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Un montage proposé, et expliqué</a:t>
            </a:r>
          </a:p>
        </p:txBody>
      </p:sp>
      <p:pic>
        <p:nvPicPr>
          <p:cNvPr id="13" name="Picture 12" descr="app_e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79239"/>
            <a:ext cx="5254599" cy="2154385"/>
          </a:xfrm>
          <a:prstGeom prst="rect">
            <a:avLst/>
          </a:prstGeom>
          <a:ln w="9525">
            <a:solidFill>
              <a:srgbClr val="D9E0EA"/>
            </a:solidFill>
          </a:ln>
        </p:spPr>
      </p:pic>
      <p:sp>
        <p:nvSpPr>
          <p:cNvPr id="14" name="Rectangle 13"/>
          <p:cNvSpPr/>
          <p:nvPr/>
        </p:nvSpPr>
        <p:spPr>
          <a:xfrm>
            <a:off x="6278727" y="2377440"/>
            <a:ext cx="5254599" cy="2157984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377440"/>
            <a:ext cx="50292" cy="2157984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1335" y="2578608"/>
            <a:ext cx="4687671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5291"/>
                </a:solidFill>
                <a:latin typeface="Calibri"/>
              </a:rPr>
              <a:t>P R O P O S E R   S A N S   R É I N T R O D U I R E   U N   S E U I 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0C1930"/>
                </a:solidFill>
                <a:latin typeface="Calibri"/>
              </a:rPr>
              <a:t>Classement relatif </a:t>
            </a:r>
            <a:r>
              <a:rPr sz="1050" b="0" i="0">
                <a:solidFill>
                  <a:srgbClr val="0C1930"/>
                </a:solidFill>
                <a:latin typeface="Calibri"/>
              </a:rPr>
              <a:t>— ramené entre le meilleur et le moins bon montage de cette étude, pour ce bien et cet horizon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0C1930"/>
                </a:solidFill>
                <a:latin typeface="Calibri"/>
              </a:rPr>
              <a:t>Pondérations affichées </a:t>
            </a:r>
            <a:r>
              <a:rPr sz="1050" b="0" i="0">
                <a:solidFill>
                  <a:srgbClr val="0C1930"/>
                </a:solidFill>
                <a:latin typeface="Calibri"/>
              </a:rPr>
              <a:t>— le conseiller voit sur quoi l'outil a tranché, et peut le contester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0C1930"/>
                </a:solidFill>
                <a:latin typeface="Calibri"/>
              </a:rPr>
              <a:t>Ce que les autres font mieux </a:t>
            </a:r>
            <a:r>
              <a:rPr sz="1050" b="0" i="0">
                <a:solidFill>
                  <a:srgbClr val="0C1930"/>
                </a:solidFill>
                <a:latin typeface="Calibri"/>
              </a:rPr>
              <a:t>— nommer ce que l'on perd, sinon c'est de la vente et non du conseil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0C1930"/>
                </a:solidFill>
                <a:latin typeface="Calibri"/>
              </a:rPr>
              <a:t>Composition complète </a:t>
            </a:r>
            <a:r>
              <a:rPr sz="1050" b="0" i="0">
                <a:solidFill>
                  <a:srgbClr val="0C1930"/>
                </a:solidFill>
                <a:latin typeface="Calibri"/>
              </a:rPr>
              <a:t>— chaque valeur avec son origine : dossier, brief, zone de marché, calcul ou hypothèse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718304"/>
            <a:ext cx="5254599" cy="1097280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901184"/>
            <a:ext cx="468767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Le conseiller saisissait </a:t>
            </a:r>
            <a:r>
              <a:rPr sz="1150" b="1" i="0">
                <a:solidFill>
                  <a:srgbClr val="F9CC28"/>
                </a:solidFill>
                <a:latin typeface="Calibri"/>
              </a:rPr>
              <a:t>onze valeurs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 pour découvrir que le montage ne convenait pas, puis recommençait : l'outil lui demandait de deviner la réponse avant de la calculer.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4718304"/>
            <a:ext cx="5254599" cy="109728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4718304"/>
            <a:ext cx="50292" cy="1097280"/>
          </a:xfrm>
          <a:prstGeom prst="rect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1335" y="4901184"/>
            <a:ext cx="468767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C1930"/>
                </a:solidFill>
                <a:latin typeface="Calibri"/>
              </a:rPr>
              <a:t>À bien et budget identiques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, l'outil propose </a:t>
            </a:r>
            <a:r>
              <a:rPr sz="1150" b="1" i="0">
                <a:solidFill>
                  <a:srgbClr val="005291"/>
                </a:solidFill>
                <a:latin typeface="Calibri"/>
              </a:rPr>
              <a:t>vingt-cinq ans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 au client qui cherche du revenu, et </a:t>
            </a:r>
            <a:r>
              <a:rPr sz="1150" b="1" i="0">
                <a:solidFill>
                  <a:srgbClr val="005291"/>
                </a:solidFill>
                <a:latin typeface="Calibri"/>
              </a:rPr>
              <a:t>quinze ans</a:t>
            </a:r>
            <a:r>
              <a:rPr sz="1150" b="0" i="0">
                <a:solidFill>
                  <a:srgbClr val="0C1930"/>
                </a:solidFill>
                <a:latin typeface="Calibri"/>
              </a:rPr>
              <a:t> à celui qui vise la plus-value. Un test le vérifie.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Tests, validation et passation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Rendre le travail vérifiable, puis utilisable sans moi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5254599" cy="3246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81328"/>
            <a:ext cx="50292" cy="3246120"/>
          </a:xfrm>
          <a:prstGeom prst="rect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1719072"/>
            <a:ext cx="465109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05291"/>
                </a:solidFill>
                <a:latin typeface="Calibri"/>
              </a:rPr>
              <a:t>C O M M E N T   C ' E S T   V A L I D 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96 tests automatisés 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— quatre niveaux : moteur, parcours complet, cas réels, règles métier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Valeurs de référence externes 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— une mensualité vérifiée au centime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Les deux dossiers du tuteur 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— devenus des tests : 15 M et 5 M de valeur créée, recalculables à la main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Deux tests-verdict 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— le classement s'inverse avec l'horizon, et l'objectif du client change le montage proposé : la position du cabinet est inscrite dans le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1481328"/>
            <a:ext cx="5254599" cy="3246120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8727" y="1481328"/>
            <a:ext cx="50292" cy="3246120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9623" y="1719072"/>
            <a:ext cx="465109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05291"/>
                </a:solidFill>
                <a:latin typeface="Calibri"/>
              </a:rPr>
              <a:t>C O M M E N T   C ' E S T   T R A N S M I 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Application déployée en ligne 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— accessible sans installation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Jeu de démonstration 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— rejouable en une commande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Guide d'utilisation 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— rédigé dans l'ordre d'un rendez-vous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0C1930"/>
                </a:solidFill>
                <a:latin typeface="Calibri"/>
              </a:rPr>
              <a:t>Script de démonstration </a:t>
            </a:r>
            <a:r>
              <a:rPr sz="1200" b="0" i="0">
                <a:solidFill>
                  <a:srgbClr val="0C1930"/>
                </a:solidFill>
                <a:latin typeface="Calibri"/>
              </a:rPr>
              <a:t>— déroulé minuté de dix minutes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1" i="0">
                <a:solidFill>
                  <a:srgbClr val="B00020"/>
                </a:solidFill>
                <a:latin typeface="Calibri"/>
              </a:rPr>
              <a:t>[à compléter : retour des utilisateurs après prise en main]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937760"/>
            <a:ext cx="10874959" cy="841248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937760"/>
            <a:ext cx="50292" cy="841248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120640"/>
            <a:ext cx="10234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C1930"/>
                </a:solidFill>
                <a:latin typeface="Calibri"/>
              </a:rPr>
              <a:t>Un test a échoué parce que </a:t>
            </a:r>
            <a:r>
              <a:rPr sz="1250" b="1" i="1">
                <a:solidFill>
                  <a:srgbClr val="0C1930"/>
                </a:solidFill>
                <a:latin typeface="Calibri"/>
              </a:rPr>
              <a:t>ma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 valeur de référence était fausse — le programme, lui, avait raison. Le dispositif protège dans les deux sens.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Conclusion et perspectives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Un outil qui propose un montage — et documente la décision au lieu de la remplacer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05291"/>
                </a:solidFill>
                <a:latin typeface="Calibri"/>
              </a:rPr>
              <a:t>C E   Q U I   E S T   L I V R 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65376"/>
            <a:ext cx="5943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Le parcours complet, de la fiche client au document remis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Les trois familles d'opérations, avec ou sans loyer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Le facteur temps au cœur du calcul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L'étude automatique : les montages construits et confrontés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00BCAA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Documentation, tests, déploiement, application en ligne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9584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6657C"/>
                </a:solidFill>
                <a:latin typeface="Calibri"/>
              </a:rPr>
              <a:t>C E   Q U I   R E S T E   O U V E R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913632"/>
            <a:ext cx="5943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6657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Échéancier VEFA par tranches (appels de fonds)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6657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Calcul de la capacité d'emprunt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6657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Rapprochement entre le brief et un portefeuille de biens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6657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0C1930"/>
                </a:solidFill>
                <a:latin typeface="Calibri"/>
              </a:rPr>
              <a:t>Validation des taux par défaut par le cabinet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67728" y="1481328"/>
            <a:ext cx="4565599" cy="2514600"/>
          </a:xfrm>
          <a:prstGeom prst="rect">
            <a:avLst/>
          </a:prstGeom>
          <a:solidFill>
            <a:srgbClr val="E6F7F5"/>
          </a:solidFill>
          <a:ln w="9525">
            <a:solidFill>
              <a:srgbClr val="00BC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1773936"/>
            <a:ext cx="3907231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6657C"/>
                </a:solidFill>
                <a:latin typeface="Calibri"/>
              </a:rPr>
              <a:t>Le déplacement le plus solide du stage n'est pas technique :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1" i="0">
                <a:solidFill>
                  <a:srgbClr val="0C1930"/>
                </a:solidFill>
                <a:latin typeface="Georgia"/>
              </a:rPr>
              <a:t>d'un outil qui décide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600" b="1" i="0">
                <a:solidFill>
                  <a:srgbClr val="005291"/>
                </a:solidFill>
                <a:latin typeface="Georgia"/>
              </a:rPr>
              <a:t>→  vers un outil qui documente une décision.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 i="1">
                <a:solidFill>
                  <a:srgbClr val="56657C"/>
                </a:solidFill>
                <a:latin typeface="Calibri"/>
              </a:rPr>
              <a:t>Il propose — mais il montre la règle qui l'a fait choisir.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sz="1150" b="0" i="0">
                <a:solidFill>
                  <a:srgbClr val="56657C"/>
                </a:solidFill>
                <a:latin typeface="Calibri"/>
              </a:rPr>
              <a:t>Il ne vient pas d'une compétence, mais d'avoir posé des questions à quelqu'un qui exerce le métier.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4224528"/>
            <a:ext cx="143042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5291"/>
                </a:solidFill>
                <a:latin typeface="Georgia"/>
              </a:rPr>
              <a:t>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4681728"/>
            <a:ext cx="14304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6657C"/>
                </a:solidFill>
                <a:latin typeface="Calibri"/>
              </a:rPr>
              <a:t>tests au 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9594" y="4224528"/>
            <a:ext cx="143042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5291"/>
                </a:solidFill>
                <a:latin typeface="Georgia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9594" y="4681728"/>
            <a:ext cx="14304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6657C"/>
                </a:solidFill>
                <a:latin typeface="Calibri"/>
              </a:rPr>
              <a:t>étapes suivies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1460" y="4224528"/>
            <a:ext cx="143042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5291"/>
                </a:solidFill>
                <a:latin typeface="Georgia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1460" y="4681728"/>
            <a:ext cx="14304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6657C"/>
                </a:solidFill>
                <a:latin typeface="Calibri"/>
              </a:rPr>
              <a:t>écarts corrigés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321808"/>
            <a:ext cx="10874959" cy="914400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5513832"/>
            <a:ext cx="102165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9CC28"/>
                </a:solidFill>
                <a:latin typeface="Calibri"/>
              </a:rPr>
              <a:t>La règle du cabinet, désormais inscrite dans l'outil.  </a:t>
            </a:r>
            <a:r>
              <a:rPr sz="1250" b="0" i="1">
                <a:solidFill>
                  <a:srgbClr val="FFFFFF"/>
                </a:solidFill>
                <a:latin typeface="Calibri"/>
              </a:rPr>
              <a:t>« Un investissement est bon lorsqu'il permet au client de générer de la valeur. Tout dépend donc de son horizon d'investissement et du facteur temps. 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512064" cy="512064"/>
          </a:xfrm>
          <a:prstGeom prst="ellipse">
            <a:avLst/>
          </a:prstGeom>
          <a:noFill/>
          <a:ln w="13970">
            <a:solidFill>
              <a:srgbClr val="F9C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CC28"/>
                </a:solidFill>
                <a:latin typeface="Georgi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8176" y="219456"/>
            <a:ext cx="1012515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Bilan personnel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A9B8CC"/>
                </a:solidFill>
                <a:latin typeface="Calibri"/>
              </a:rPr>
              <a:t>Ce que j'ai appris, ce qui m'a manqué, et ce que j'en fais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6657C"/>
                </a:solidFill>
                <a:latin typeface="Calibri"/>
              </a:rPr>
              <a:t>HOUNKPETOHOU Marius  ·  Soutenance de stage opérateur  ·  Choubel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687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5291"/>
                </a:solidFill>
                <a:latin typeface="Calibri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3442106" cy="3310128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81328"/>
            <a:ext cx="50292" cy="3310128"/>
          </a:xfrm>
          <a:prstGeom prst="rect">
            <a:avLst/>
          </a:prstGeom>
          <a:solidFill>
            <a:srgbClr val="005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719072"/>
            <a:ext cx="2911754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5291"/>
                </a:solidFill>
                <a:latin typeface="Calibri"/>
              </a:rPr>
              <a:t>C E   Q U E   L A   1 A   A   S E R V I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Méthodes numériques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chercher le TRI, c'est résoudre une équation : Newton-Raphson, puis repli sur une bissection bornée.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Mathématiques financières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actualisation, annuités constantes.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Programmation et communication écrite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en continu.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1" i="0">
                <a:solidFill>
                  <a:srgbClr val="B00020"/>
                </a:solidFill>
                <a:latin typeface="Calibri"/>
              </a:rPr>
              <a:t>[à compléter : intitulés des cours]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4794" y="1481328"/>
            <a:ext cx="3442106" cy="3310128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1481328"/>
            <a:ext cx="50292" cy="3310128"/>
          </a:xfrm>
          <a:prstGeom prst="rect">
            <a:avLst/>
          </a:prstGeom>
          <a:solidFill>
            <a:srgbClr val="00B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9114" y="1719072"/>
            <a:ext cx="2911754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BCAA"/>
                </a:solidFill>
                <a:latin typeface="Calibri"/>
              </a:rPr>
              <a:t>C E   Q U E   J ' A I   A P P R I 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Écrire les conventions avant le code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les arbitrages durs sont des définitions, pas des algorithmes.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Vérifier deux fois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le dispositif protège aussi contre mes propres erreurs.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Si je ne sais pas l'expliquer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je ne dois pas le livrer.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1220" y="1481328"/>
            <a:ext cx="3442106" cy="3310128"/>
          </a:xfrm>
          <a:prstGeom prst="rect">
            <a:avLst/>
          </a:prstGeom>
          <a:solidFill>
            <a:srgbClr val="F2F5F9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1220" y="1481328"/>
            <a:ext cx="50292" cy="3310128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5540" y="1719072"/>
            <a:ext cx="2911754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00020"/>
                </a:solidFill>
                <a:latin typeface="Calibri"/>
              </a:rPr>
              <a:t>C E   Q U I   M ' A   M A N Q U É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Conduire un entretien utilisateur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mon questionnaire a été improvisé, et trop tardif.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Culture du marché immobilier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découverte en même temps que le vocabulaire.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C1930"/>
                </a:solidFill>
                <a:latin typeface="Calibri"/>
              </a:rPr>
              <a:t>Réflexes d'exploitation </a:t>
            </a:r>
            <a:r>
              <a:rPr sz="1250" b="0" i="0">
                <a:solidFill>
                  <a:srgbClr val="0C1930"/>
                </a:solidFill>
                <a:latin typeface="Calibri"/>
              </a:rPr>
              <a:t>— un bug invisible en local m'a appris la différence entre « ça marche » et « ça tourne ».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010912"/>
            <a:ext cx="10874959" cy="1207008"/>
          </a:xfrm>
          <a:prstGeom prst="rect">
            <a:avLst/>
          </a:prstGeom>
          <a:solidFill>
            <a:srgbClr val="0C19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5266944"/>
            <a:ext cx="1021659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9CC28"/>
                </a:solidFill>
                <a:latin typeface="Calibri"/>
              </a:rPr>
              <a:t>Mon plan.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Imposer un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entretien de cadrage écrit dès le premier jour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 de ma prochaine mission  ·  pratiquer le déploiement et la supervision sur mes propres projets  ·  chercher un stage à l'intersection du logiciel et d'un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métier exigeant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, dans une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équipe étoffée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 — ce stage s'est fait en binôme, avec une autonomie large.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sablanca_vue_aerien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85657"/>
            <a:ext cx="12191695" cy="74293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93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9CC28"/>
                </a:solidFill>
                <a:latin typeface="Calibri"/>
              </a:rPr>
              <a:t>C H O U B E L   C O N S U L T I N G   —   1 3   J U I L L E T   A U   2 1   A O Û T   2 0 2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889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950208"/>
            <a:ext cx="1554480" cy="45720"/>
          </a:xfrm>
          <a:prstGeom prst="rect">
            <a:avLst/>
          </a:prstGeom>
          <a:solidFill>
            <a:srgbClr val="F9C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879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BCAA"/>
                </a:solidFill>
                <a:latin typeface="Calibri"/>
              </a:rPr>
              <a:t>Questions bienvenues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532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9CC28"/>
                </a:solidFill>
                <a:latin typeface="Calibri"/>
              </a:rPr>
              <a:t>Crédits photographiques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9AAABE"/>
                </a:solidFill>
                <a:latin typeface="Calibri"/>
              </a:rPr>
              <a:t>Casablanca Finance City : Turdyfirst, CC BY-SA 4.0  ·  quartier Maârif : karel291, CC BY 3.0  ·  marina en construction : Farid Mernissi, CC BY-SA 4.0  ·  vue aérienne : Jimmy Baikovicius, CC BY-SA 2.0 — toutes via Wikimedia Commons. Les captures d'écran sont des productions du stage.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Concevoir un outil d'aide à la décision pour un cabinet de conseil immobilier</dc:title>
  <dc:subject>Soutenance de stage opérateur — École Centrale Casablanca</dc:subject>
  <dc:creator>HOUNKPETOHOU Marius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